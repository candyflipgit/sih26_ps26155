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not that security standards are missing. CIS, NIST, STIG and ISO all say what a hardened device looks like. The problem is that every vendor expresses those controls in its own syntax, so the industry falls back on manual checklists or vendor-locked suites that cannot span a mixed fleet. And a hard-coded parser fails silently the moment a firmware update or a new vendor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engine drives every vendor; vendor knowledge lives in JSON rule packs, not Python. The deterministic stages run first, and the AI layer only sees what they could not resolve. Critically, the compliance engine contains no AI at all — the model decides what a configuration says, never whether that is compliant.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differentiator is not that we call a language model. It is that an approval generalises and then leaves the model behind. We also want to be honest about why the LLM is there at all: we tested pure embedding retrieval and it answered about half of a held-out cross-vendor set, with correct and incorrect neighbours indistinguishable by score. If similarity search had worked, the model would be decoration.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finding is reproducible and cites the configuration lines behind it, so a reviewer who disagrees with a verdict can trace it back to the exact text. The redaction path is the most heavily tested part of the codebase, because a report circulates far more widely than the configuration it describes.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here are measured on the bundled samples, not estimated. Coverage is the share of security-relevant configuration lines the engine interpreted; the Fortinet sample reaches 100 percent, the Cisco one 68 percent, and the remainder is exactly what the training queue exists for. MikroTik is unsupported on purpose — it is how we demonstrate the path to vendor number fifty.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52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621792"/>
          </a:xfrm>
          <a:prstGeom prst="rect">
            <a:avLst/>
          </a:prstGeom>
          <a:noFill/>
          <a:ln/>
        </p:spPr>
        <p:txBody>
          <a:bodyPr wrap="square" lIns="0" tIns="0" rIns="0" bIns="0" rtlCol="0" anchor="ctr"/>
          <a:lstStyle/>
          <a:p>
            <a:pPr indent="0" marL="0">
              <a:buNone/>
            </a:pPr>
            <a:r>
              <a:rPr lang="en-US" sz="3400" b="1" dirty="0">
                <a:solidFill>
                  <a:srgbClr val="E9EFF6"/>
                </a:solidFill>
                <a:latin typeface="Cambria" pitchFamily="34" charset="0"/>
                <a:ea typeface="Cambria" pitchFamily="34" charset="-122"/>
                <a:cs typeface="Cambria" pitchFamily="34" charset="-120"/>
              </a:rPr>
              <a:t>One security control, three languages</a:t>
            </a:r>
            <a:endParaRPr lang="en-US" sz="3400" dirty="0"/>
          </a:p>
        </p:txBody>
      </p:sp>
      <p:sp>
        <p:nvSpPr>
          <p:cNvPr id="3" name="Text 1"/>
          <p:cNvSpPr txBox="1"/>
          <p:nvPr/>
        </p:nvSpPr>
        <p:spPr>
          <a:xfrm>
            <a:off x="566928" y="1024128"/>
            <a:ext cx="11055096" cy="329184"/>
          </a:xfrm>
          <a:prstGeom prst="rect">
            <a:avLst/>
          </a:prstGeom>
          <a:noFill/>
          <a:ln/>
        </p:spPr>
        <p:txBody>
          <a:bodyPr wrap="square" lIns="0" tIns="0" rIns="0" bIns="0" rtlCol="0" anchor="ctr"/>
          <a:lstStyle/>
          <a:p>
            <a:pPr indent="0" marL="0">
              <a:buNone/>
            </a:pPr>
            <a:r>
              <a:rPr lang="en-US" sz="1400" dirty="0">
                <a:solidFill>
                  <a:srgbClr val="93A4B8"/>
                </a:solidFill>
                <a:latin typeface="Calibri" pitchFamily="34" charset="0"/>
                <a:ea typeface="Calibri" pitchFamily="34" charset="-122"/>
                <a:cs typeface="Calibri" pitchFamily="34" charset="-120"/>
              </a:rPr>
              <a:t>Frameworks already define what "hardened" means. Every vendor says it differently — and hard-coded parsers break the moment a new one arrives.</a:t>
            </a:r>
            <a:endParaRPr lang="en-US" sz="1400" dirty="0"/>
          </a:p>
        </p:txBody>
      </p:sp>
      <p:sp>
        <p:nvSpPr>
          <p:cNvPr id="4" name="Shape 2"/>
          <p:cNvSpPr/>
          <p:nvPr/>
        </p:nvSpPr>
        <p:spPr>
          <a:xfrm>
            <a:off x="566928" y="1700784"/>
            <a:ext cx="5943600" cy="530352"/>
          </a:xfrm>
          <a:prstGeom prst="roundRect">
            <a:avLst>
              <a:gd name="adj" fmla="val 10345"/>
            </a:avLst>
          </a:prstGeom>
          <a:solidFill>
            <a:srgbClr val="18222E"/>
          </a:solidFill>
          <a:ln w="12700">
            <a:solidFill>
              <a:srgbClr val="2B3A4C"/>
            </a:solidFill>
            <a:prstDash val="solid"/>
          </a:ln>
        </p:spPr>
      </p:sp>
      <p:sp>
        <p:nvSpPr>
          <p:cNvPr id="5" name="Text 3"/>
          <p:cNvSpPr txBox="1"/>
          <p:nvPr/>
        </p:nvSpPr>
        <p:spPr>
          <a:xfrm>
            <a:off x="749808" y="1700784"/>
            <a:ext cx="1645920" cy="530352"/>
          </a:xfrm>
          <a:prstGeom prst="rect">
            <a:avLst/>
          </a:prstGeom>
          <a:noFill/>
          <a:ln/>
        </p:spPr>
        <p:txBody>
          <a:bodyPr wrap="square" lIns="0" tIns="0" rIns="0" bIns="0" rtlCol="0" anchor="ctr"/>
          <a:lstStyle/>
          <a:p>
            <a:pPr indent="0" marL="0">
              <a:buNone/>
            </a:pPr>
            <a:r>
              <a:rPr lang="en-US" sz="1050" dirty="0">
                <a:solidFill>
                  <a:srgbClr val="93A4B8"/>
                </a:solidFill>
                <a:latin typeface="Calibri" pitchFamily="34" charset="0"/>
                <a:ea typeface="Calibri" pitchFamily="34" charset="-122"/>
                <a:cs typeface="Calibri" pitchFamily="34" charset="-120"/>
              </a:rPr>
              <a:t>Cisco IOS-XE</a:t>
            </a:r>
            <a:endParaRPr lang="en-US" sz="1050" dirty="0"/>
          </a:p>
        </p:txBody>
      </p:sp>
      <p:sp>
        <p:nvSpPr>
          <p:cNvPr id="6" name="Text 4"/>
          <p:cNvSpPr txBox="1"/>
          <p:nvPr/>
        </p:nvSpPr>
        <p:spPr>
          <a:xfrm>
            <a:off x="2350008" y="1700784"/>
            <a:ext cx="4069080" cy="530352"/>
          </a:xfrm>
          <a:prstGeom prst="rect">
            <a:avLst/>
          </a:prstGeom>
          <a:noFill/>
          <a:ln/>
        </p:spPr>
        <p:txBody>
          <a:bodyPr wrap="square" lIns="0" tIns="0" rIns="0" bIns="0" rtlCol="0" anchor="ctr"/>
          <a:lstStyle/>
          <a:p>
            <a:pPr indent="0" marL="0">
              <a:buNone/>
            </a:pPr>
            <a:r>
              <a:rPr lang="en-US" sz="1050" dirty="0">
                <a:solidFill>
                  <a:srgbClr val="E9EFF6"/>
                </a:solidFill>
                <a:latin typeface="Consolas" pitchFamily="34" charset="0"/>
                <a:ea typeface="Consolas" pitchFamily="34" charset="-122"/>
                <a:cs typeface="Consolas" pitchFamily="34" charset="-120"/>
              </a:rPr>
              <a:t>ip ssh version 2</a:t>
            </a:r>
            <a:endParaRPr lang="en-US" sz="1050" dirty="0"/>
          </a:p>
        </p:txBody>
      </p:sp>
      <p:sp>
        <p:nvSpPr>
          <p:cNvPr id="7" name="Shape 5"/>
          <p:cNvSpPr/>
          <p:nvPr/>
        </p:nvSpPr>
        <p:spPr>
          <a:xfrm>
            <a:off x="566928" y="2359152"/>
            <a:ext cx="5943600" cy="530352"/>
          </a:xfrm>
          <a:prstGeom prst="roundRect">
            <a:avLst>
              <a:gd name="adj" fmla="val 10345"/>
            </a:avLst>
          </a:prstGeom>
          <a:solidFill>
            <a:srgbClr val="18222E"/>
          </a:solidFill>
          <a:ln w="12700">
            <a:solidFill>
              <a:srgbClr val="2B3A4C"/>
            </a:solidFill>
            <a:prstDash val="solid"/>
          </a:ln>
        </p:spPr>
      </p:sp>
      <p:sp>
        <p:nvSpPr>
          <p:cNvPr id="8" name="Text 6"/>
          <p:cNvSpPr txBox="1"/>
          <p:nvPr/>
        </p:nvSpPr>
        <p:spPr>
          <a:xfrm>
            <a:off x="749808" y="2359152"/>
            <a:ext cx="1645920" cy="530352"/>
          </a:xfrm>
          <a:prstGeom prst="rect">
            <a:avLst/>
          </a:prstGeom>
          <a:noFill/>
          <a:ln/>
        </p:spPr>
        <p:txBody>
          <a:bodyPr wrap="square" lIns="0" tIns="0" rIns="0" bIns="0" rtlCol="0" anchor="ctr"/>
          <a:lstStyle/>
          <a:p>
            <a:pPr indent="0" marL="0">
              <a:buNone/>
            </a:pPr>
            <a:r>
              <a:rPr lang="en-US" sz="1050" dirty="0">
                <a:solidFill>
                  <a:srgbClr val="93A4B8"/>
                </a:solidFill>
                <a:latin typeface="Calibri" pitchFamily="34" charset="0"/>
                <a:ea typeface="Calibri" pitchFamily="34" charset="-122"/>
                <a:cs typeface="Calibri" pitchFamily="34" charset="-120"/>
              </a:rPr>
              <a:t>Juniper Junos</a:t>
            </a:r>
            <a:endParaRPr lang="en-US" sz="1050" dirty="0"/>
          </a:p>
        </p:txBody>
      </p:sp>
      <p:sp>
        <p:nvSpPr>
          <p:cNvPr id="9" name="Text 7"/>
          <p:cNvSpPr txBox="1"/>
          <p:nvPr/>
        </p:nvSpPr>
        <p:spPr>
          <a:xfrm>
            <a:off x="2350008" y="2359152"/>
            <a:ext cx="4069080" cy="530352"/>
          </a:xfrm>
          <a:prstGeom prst="rect">
            <a:avLst/>
          </a:prstGeom>
          <a:noFill/>
          <a:ln/>
        </p:spPr>
        <p:txBody>
          <a:bodyPr wrap="square" lIns="0" tIns="0" rIns="0" bIns="0" rtlCol="0" anchor="ctr"/>
          <a:lstStyle/>
          <a:p>
            <a:pPr indent="0" marL="0">
              <a:buNone/>
            </a:pPr>
            <a:r>
              <a:rPr lang="en-US" sz="1050" dirty="0">
                <a:solidFill>
                  <a:srgbClr val="E9EFF6"/>
                </a:solidFill>
                <a:latin typeface="Consolas" pitchFamily="34" charset="0"/>
                <a:ea typeface="Consolas" pitchFamily="34" charset="-122"/>
                <a:cs typeface="Consolas" pitchFamily="34" charset="-120"/>
              </a:rPr>
              <a:t>set system services ssh protocol-version v2</a:t>
            </a:r>
            <a:endParaRPr lang="en-US" sz="1050" dirty="0"/>
          </a:p>
        </p:txBody>
      </p:sp>
      <p:sp>
        <p:nvSpPr>
          <p:cNvPr id="10" name="Shape 8"/>
          <p:cNvSpPr/>
          <p:nvPr/>
        </p:nvSpPr>
        <p:spPr>
          <a:xfrm>
            <a:off x="566928" y="3017520"/>
            <a:ext cx="5943600" cy="530352"/>
          </a:xfrm>
          <a:prstGeom prst="roundRect">
            <a:avLst>
              <a:gd name="adj" fmla="val 10345"/>
            </a:avLst>
          </a:prstGeom>
          <a:solidFill>
            <a:srgbClr val="18222E"/>
          </a:solidFill>
          <a:ln w="12700">
            <a:solidFill>
              <a:srgbClr val="2B3A4C"/>
            </a:solidFill>
            <a:prstDash val="solid"/>
          </a:ln>
        </p:spPr>
      </p:sp>
      <p:sp>
        <p:nvSpPr>
          <p:cNvPr id="11" name="Text 9"/>
          <p:cNvSpPr txBox="1"/>
          <p:nvPr/>
        </p:nvSpPr>
        <p:spPr>
          <a:xfrm>
            <a:off x="749808" y="3017520"/>
            <a:ext cx="1645920" cy="530352"/>
          </a:xfrm>
          <a:prstGeom prst="rect">
            <a:avLst/>
          </a:prstGeom>
          <a:noFill/>
          <a:ln/>
        </p:spPr>
        <p:txBody>
          <a:bodyPr wrap="square" lIns="0" tIns="0" rIns="0" bIns="0" rtlCol="0" anchor="ctr"/>
          <a:lstStyle/>
          <a:p>
            <a:pPr indent="0" marL="0">
              <a:buNone/>
            </a:pPr>
            <a:r>
              <a:rPr lang="en-US" sz="1050" dirty="0">
                <a:solidFill>
                  <a:srgbClr val="93A4B8"/>
                </a:solidFill>
                <a:latin typeface="Calibri" pitchFamily="34" charset="0"/>
                <a:ea typeface="Calibri" pitchFamily="34" charset="-122"/>
                <a:cs typeface="Calibri" pitchFamily="34" charset="-120"/>
              </a:rPr>
              <a:t>Fortinet FortiOS</a:t>
            </a:r>
            <a:endParaRPr lang="en-US" sz="1050" dirty="0"/>
          </a:p>
        </p:txBody>
      </p:sp>
      <p:sp>
        <p:nvSpPr>
          <p:cNvPr id="12" name="Text 10"/>
          <p:cNvSpPr txBox="1"/>
          <p:nvPr/>
        </p:nvSpPr>
        <p:spPr>
          <a:xfrm>
            <a:off x="2350008" y="3017520"/>
            <a:ext cx="4069080" cy="530352"/>
          </a:xfrm>
          <a:prstGeom prst="rect">
            <a:avLst/>
          </a:prstGeom>
          <a:noFill/>
          <a:ln/>
        </p:spPr>
        <p:txBody>
          <a:bodyPr wrap="square" lIns="0" tIns="0" rIns="0" bIns="0" rtlCol="0" anchor="ctr"/>
          <a:lstStyle/>
          <a:p>
            <a:pPr indent="0" marL="0">
              <a:buNone/>
            </a:pPr>
            <a:r>
              <a:rPr lang="en-US" sz="1050" dirty="0">
                <a:solidFill>
                  <a:srgbClr val="E9EFF6"/>
                </a:solidFill>
                <a:latin typeface="Consolas" pitchFamily="34" charset="0"/>
                <a:ea typeface="Consolas" pitchFamily="34" charset="-122"/>
                <a:cs typeface="Consolas" pitchFamily="34" charset="-120"/>
              </a:rPr>
              <a:t>set admin-ssh-v1 disable</a:t>
            </a:r>
            <a:endParaRPr lang="en-US" sz="1050" dirty="0"/>
          </a:p>
        </p:txBody>
      </p:sp>
      <p:sp>
        <p:nvSpPr>
          <p:cNvPr id="13" name="Text 11"/>
          <p:cNvSpPr txBox="1"/>
          <p:nvPr/>
        </p:nvSpPr>
        <p:spPr>
          <a:xfrm>
            <a:off x="6647688" y="2084832"/>
            <a:ext cx="502920" cy="822960"/>
          </a:xfrm>
          <a:prstGeom prst="rect">
            <a:avLst/>
          </a:prstGeom>
          <a:noFill/>
          <a:ln/>
        </p:spPr>
        <p:txBody>
          <a:bodyPr wrap="square" lIns="0" tIns="0" rIns="0" bIns="0" rtlCol="0" anchor="ctr"/>
          <a:lstStyle/>
          <a:p>
            <a:pPr algn="ctr" indent="0" marL="0">
              <a:buNone/>
            </a:pPr>
            <a:r>
              <a:rPr lang="en-US" sz="3000" dirty="0">
                <a:solidFill>
                  <a:srgbClr val="64768C"/>
                </a:solidFill>
                <a:latin typeface="Calibri" pitchFamily="34" charset="0"/>
                <a:ea typeface="Calibri" pitchFamily="34" charset="-122"/>
                <a:cs typeface="Calibri" pitchFamily="34" charset="-120"/>
              </a:rPr>
              <a:t>→</a:t>
            </a:r>
            <a:endParaRPr lang="en-US" sz="3000" dirty="0"/>
          </a:p>
        </p:txBody>
      </p:sp>
      <p:sp>
        <p:nvSpPr>
          <p:cNvPr id="14" name="Shape 12"/>
          <p:cNvSpPr/>
          <p:nvPr/>
        </p:nvSpPr>
        <p:spPr>
          <a:xfrm>
            <a:off x="7242048" y="1700784"/>
            <a:ext cx="4379976" cy="1847088"/>
          </a:xfrm>
          <a:prstGeom prst="roundRect">
            <a:avLst>
              <a:gd name="adj" fmla="val 2970"/>
            </a:avLst>
          </a:prstGeom>
          <a:solidFill>
            <a:srgbClr val="212D3B"/>
          </a:solidFill>
          <a:ln w="12700">
            <a:solidFill>
              <a:srgbClr val="4C9AFF"/>
            </a:solidFill>
            <a:prstDash val="solid"/>
          </a:ln>
        </p:spPr>
      </p:sp>
      <p:sp>
        <p:nvSpPr>
          <p:cNvPr id="15" name="Text 13"/>
          <p:cNvSpPr txBox="1"/>
          <p:nvPr/>
        </p:nvSpPr>
        <p:spPr>
          <a:xfrm>
            <a:off x="7424928" y="1883664"/>
            <a:ext cx="4023360" cy="274320"/>
          </a:xfrm>
          <a:prstGeom prst="rect">
            <a:avLst/>
          </a:prstGeom>
          <a:noFill/>
          <a:ln/>
        </p:spPr>
        <p:txBody>
          <a:bodyPr wrap="square" lIns="0" tIns="0" rIns="0" bIns="0" rtlCol="0" anchor="ctr"/>
          <a:lstStyle/>
          <a:p>
            <a:pPr indent="0" marL="0">
              <a:buNone/>
            </a:pPr>
            <a:r>
              <a:rPr lang="en-US" sz="1050" dirty="0">
                <a:solidFill>
                  <a:srgbClr val="4C9AFF"/>
                </a:solidFill>
                <a:latin typeface="Calibri" pitchFamily="34" charset="0"/>
                <a:ea typeface="Calibri" pitchFamily="34" charset="-122"/>
                <a:cs typeface="Calibri" pitchFamily="34" charset="-120"/>
              </a:rPr>
              <a:t>One security concept</a:t>
            </a:r>
            <a:endParaRPr lang="en-US" sz="1050" dirty="0"/>
          </a:p>
        </p:txBody>
      </p:sp>
      <p:sp>
        <p:nvSpPr>
          <p:cNvPr id="16" name="Text 14"/>
          <p:cNvSpPr txBox="1"/>
          <p:nvPr/>
        </p:nvSpPr>
        <p:spPr>
          <a:xfrm>
            <a:off x="7424928" y="2231136"/>
            <a:ext cx="4023360" cy="384048"/>
          </a:xfrm>
          <a:prstGeom prst="rect">
            <a:avLst/>
          </a:prstGeom>
          <a:noFill/>
          <a:ln/>
        </p:spPr>
        <p:txBody>
          <a:bodyPr wrap="square" lIns="0" tIns="0" rIns="0" bIns="0" rtlCol="0" anchor="ctr"/>
          <a:lstStyle/>
          <a:p>
            <a:pPr indent="0" marL="0">
              <a:buNone/>
            </a:pPr>
            <a:r>
              <a:rPr lang="en-US" sz="1400" b="1" dirty="0">
                <a:solidFill>
                  <a:srgbClr val="E9EFF6"/>
                </a:solidFill>
                <a:latin typeface="Consolas" pitchFamily="34" charset="0"/>
                <a:ea typeface="Consolas" pitchFamily="34" charset="-122"/>
                <a:cs typeface="Consolas" pitchFamily="34" charset="-120"/>
              </a:rPr>
              <a:t>management.ssh.version = 2</a:t>
            </a:r>
            <a:endParaRPr lang="en-US" sz="1400" dirty="0"/>
          </a:p>
        </p:txBody>
      </p:sp>
      <p:sp>
        <p:nvSpPr>
          <p:cNvPr id="17" name="Text 15"/>
          <p:cNvSpPr txBox="1"/>
          <p:nvPr/>
        </p:nvSpPr>
        <p:spPr>
          <a:xfrm>
            <a:off x="7424928" y="2688336"/>
            <a:ext cx="4023360" cy="713232"/>
          </a:xfrm>
          <a:prstGeom prst="rect">
            <a:avLst/>
          </a:prstGeom>
          <a:noFill/>
          <a:ln/>
        </p:spPr>
        <p:txBody>
          <a:bodyPr wrap="square" lIns="0" tIns="0" rIns="0" bIns="0" rtlCol="0" anchor="ctr"/>
          <a:lstStyle/>
          <a:p>
            <a:pPr indent="0" marL="0">
              <a:buNone/>
            </a:pPr>
            <a:r>
              <a:rPr lang="en-US" sz="1100" dirty="0">
                <a:solidFill>
                  <a:srgbClr val="93A4B8"/>
                </a:solidFill>
                <a:latin typeface="Calibri" pitchFamily="34" charset="0"/>
                <a:ea typeface="Calibri" pitchFamily="34" charset="-122"/>
                <a:cs typeface="Calibri" pitchFamily="34" charset="-120"/>
              </a:rPr>
              <a:t>A vendor-neutral security model is the bridge between proprietary syntax and vendor-independent policy.</a:t>
            </a:r>
            <a:endParaRPr lang="en-US" sz="1100" dirty="0"/>
          </a:p>
        </p:txBody>
      </p:sp>
      <p:sp>
        <p:nvSpPr>
          <p:cNvPr id="18" name="Shape 16"/>
          <p:cNvSpPr/>
          <p:nvPr/>
        </p:nvSpPr>
        <p:spPr>
          <a:xfrm>
            <a:off x="566928" y="3986784"/>
            <a:ext cx="3493008" cy="1170432"/>
          </a:xfrm>
          <a:prstGeom prst="roundRect">
            <a:avLst>
              <a:gd name="adj" fmla="val 4688"/>
            </a:avLst>
          </a:prstGeom>
          <a:solidFill>
            <a:srgbClr val="18222E"/>
          </a:solidFill>
          <a:ln w="12700">
            <a:solidFill>
              <a:srgbClr val="2B3A4C"/>
            </a:solidFill>
            <a:prstDash val="solid"/>
          </a:ln>
        </p:spPr>
      </p:sp>
      <p:sp>
        <p:nvSpPr>
          <p:cNvPr id="19" name="Text 17"/>
          <p:cNvSpPr txBox="1"/>
          <p:nvPr/>
        </p:nvSpPr>
        <p:spPr>
          <a:xfrm>
            <a:off x="768096" y="4151376"/>
            <a:ext cx="3108960" cy="365760"/>
          </a:xfrm>
          <a:prstGeom prst="rect">
            <a:avLst/>
          </a:prstGeom>
          <a:noFill/>
          <a:ln/>
        </p:spPr>
        <p:txBody>
          <a:bodyPr wrap="square" lIns="0" tIns="0" rIns="0" bIns="0" rtlCol="0" anchor="ctr"/>
          <a:lstStyle/>
          <a:p>
            <a:pPr indent="0" marL="0">
              <a:buNone/>
            </a:pPr>
            <a:r>
              <a:rPr lang="en-US" sz="1900" b="1" dirty="0">
                <a:solidFill>
                  <a:srgbClr val="E9EFF6"/>
                </a:solidFill>
                <a:latin typeface="Cambria" pitchFamily="34" charset="0"/>
                <a:ea typeface="Cambria" pitchFamily="34" charset="-122"/>
                <a:cs typeface="Cambria" pitchFamily="34" charset="-120"/>
              </a:rPr>
              <a:t>Manual</a:t>
            </a:r>
            <a:endParaRPr lang="en-US" sz="1900" dirty="0"/>
          </a:p>
        </p:txBody>
      </p:sp>
      <p:sp>
        <p:nvSpPr>
          <p:cNvPr id="20" name="Text 18"/>
          <p:cNvSpPr txBox="1"/>
          <p:nvPr/>
        </p:nvSpPr>
        <p:spPr>
          <a:xfrm>
            <a:off x="768096" y="4535424"/>
            <a:ext cx="3108960" cy="530352"/>
          </a:xfrm>
          <a:prstGeom prst="rect">
            <a:avLst/>
          </a:prstGeom>
          <a:noFill/>
          <a:ln/>
        </p:spPr>
        <p:txBody>
          <a:bodyPr wrap="square" lIns="0" tIns="0" rIns="0" bIns="0" rtlCol="0" anchor="ctr"/>
          <a:lstStyle/>
          <a:p>
            <a:pPr indent="0" marL="0">
              <a:buNone/>
            </a:pPr>
            <a:r>
              <a:rPr lang="en-US" sz="1100" dirty="0">
                <a:solidFill>
                  <a:srgbClr val="93A4B8"/>
                </a:solidFill>
                <a:latin typeface="Calibri" pitchFamily="34" charset="0"/>
                <a:ea typeface="Calibri" pitchFamily="34" charset="-122"/>
                <a:cs typeface="Calibri" pitchFamily="34" charset="-120"/>
              </a:rPr>
              <a:t>checklist audits, per device, per vendor</a:t>
            </a:r>
            <a:endParaRPr lang="en-US" sz="1100" dirty="0"/>
          </a:p>
        </p:txBody>
      </p:sp>
      <p:sp>
        <p:nvSpPr>
          <p:cNvPr id="21" name="Shape 19"/>
          <p:cNvSpPr/>
          <p:nvPr/>
        </p:nvSpPr>
        <p:spPr>
          <a:xfrm>
            <a:off x="4279392" y="3986784"/>
            <a:ext cx="3493008" cy="1170432"/>
          </a:xfrm>
          <a:prstGeom prst="roundRect">
            <a:avLst>
              <a:gd name="adj" fmla="val 4688"/>
            </a:avLst>
          </a:prstGeom>
          <a:solidFill>
            <a:srgbClr val="18222E"/>
          </a:solidFill>
          <a:ln w="12700">
            <a:solidFill>
              <a:srgbClr val="2B3A4C"/>
            </a:solidFill>
            <a:prstDash val="solid"/>
          </a:ln>
        </p:spPr>
      </p:sp>
      <p:sp>
        <p:nvSpPr>
          <p:cNvPr id="22" name="Text 20"/>
          <p:cNvSpPr txBox="1"/>
          <p:nvPr/>
        </p:nvSpPr>
        <p:spPr>
          <a:xfrm>
            <a:off x="4480560" y="4151376"/>
            <a:ext cx="3108960" cy="365760"/>
          </a:xfrm>
          <a:prstGeom prst="rect">
            <a:avLst/>
          </a:prstGeom>
          <a:noFill/>
          <a:ln/>
        </p:spPr>
        <p:txBody>
          <a:bodyPr wrap="square" lIns="0" tIns="0" rIns="0" bIns="0" rtlCol="0" anchor="ctr"/>
          <a:lstStyle/>
          <a:p>
            <a:pPr indent="0" marL="0">
              <a:buNone/>
            </a:pPr>
            <a:r>
              <a:rPr lang="en-US" sz="1900" b="1" dirty="0">
                <a:solidFill>
                  <a:srgbClr val="E9EFF6"/>
                </a:solidFill>
                <a:latin typeface="Cambria" pitchFamily="34" charset="0"/>
                <a:ea typeface="Cambria" pitchFamily="34" charset="-122"/>
                <a:cs typeface="Cambria" pitchFamily="34" charset="-120"/>
              </a:rPr>
              <a:t>Or locked in</a:t>
            </a:r>
            <a:endParaRPr lang="en-US" sz="1900" dirty="0"/>
          </a:p>
        </p:txBody>
      </p:sp>
      <p:sp>
        <p:nvSpPr>
          <p:cNvPr id="23" name="Text 21"/>
          <p:cNvSpPr txBox="1"/>
          <p:nvPr/>
        </p:nvSpPr>
        <p:spPr>
          <a:xfrm>
            <a:off x="4480560" y="4535424"/>
            <a:ext cx="3108960" cy="530352"/>
          </a:xfrm>
          <a:prstGeom prst="rect">
            <a:avLst/>
          </a:prstGeom>
          <a:noFill/>
          <a:ln/>
        </p:spPr>
        <p:txBody>
          <a:bodyPr wrap="square" lIns="0" tIns="0" rIns="0" bIns="0" rtlCol="0" anchor="ctr"/>
          <a:lstStyle/>
          <a:p>
            <a:pPr indent="0" marL="0">
              <a:buNone/>
            </a:pPr>
            <a:r>
              <a:rPr lang="en-US" sz="1100" dirty="0">
                <a:solidFill>
                  <a:srgbClr val="93A4B8"/>
                </a:solidFill>
                <a:latin typeface="Calibri" pitchFamily="34" charset="0"/>
                <a:ea typeface="Calibri" pitchFamily="34" charset="-122"/>
                <a:cs typeface="Calibri" pitchFamily="34" charset="-120"/>
              </a:rPr>
              <a:t>vendor suites that ignore heterogeneous fleets</a:t>
            </a:r>
            <a:endParaRPr lang="en-US" sz="1100" dirty="0"/>
          </a:p>
        </p:txBody>
      </p:sp>
      <p:sp>
        <p:nvSpPr>
          <p:cNvPr id="24" name="Shape 22"/>
          <p:cNvSpPr/>
          <p:nvPr/>
        </p:nvSpPr>
        <p:spPr>
          <a:xfrm>
            <a:off x="7991856" y="3986784"/>
            <a:ext cx="3493008" cy="1170432"/>
          </a:xfrm>
          <a:prstGeom prst="roundRect">
            <a:avLst>
              <a:gd name="adj" fmla="val 4688"/>
            </a:avLst>
          </a:prstGeom>
          <a:solidFill>
            <a:srgbClr val="18222E"/>
          </a:solidFill>
          <a:ln w="12700">
            <a:solidFill>
              <a:srgbClr val="2B3A4C"/>
            </a:solidFill>
            <a:prstDash val="solid"/>
          </a:ln>
        </p:spPr>
      </p:sp>
      <p:sp>
        <p:nvSpPr>
          <p:cNvPr id="25" name="Text 23"/>
          <p:cNvSpPr txBox="1"/>
          <p:nvPr/>
        </p:nvSpPr>
        <p:spPr>
          <a:xfrm>
            <a:off x="8193024" y="4151376"/>
            <a:ext cx="3108960" cy="365760"/>
          </a:xfrm>
          <a:prstGeom prst="rect">
            <a:avLst/>
          </a:prstGeom>
          <a:noFill/>
          <a:ln/>
        </p:spPr>
        <p:txBody>
          <a:bodyPr wrap="square" lIns="0" tIns="0" rIns="0" bIns="0" rtlCol="0" anchor="ctr"/>
          <a:lstStyle/>
          <a:p>
            <a:pPr indent="0" marL="0">
              <a:buNone/>
            </a:pPr>
            <a:r>
              <a:rPr lang="en-US" sz="1900" b="1" dirty="0">
                <a:solidFill>
                  <a:srgbClr val="FF5A5F"/>
                </a:solidFill>
                <a:latin typeface="Cambria" pitchFamily="34" charset="0"/>
                <a:ea typeface="Cambria" pitchFamily="34" charset="-122"/>
                <a:cs typeface="Cambria" pitchFamily="34" charset="-120"/>
              </a:rPr>
              <a:t>And brittle</a:t>
            </a:r>
            <a:endParaRPr lang="en-US" sz="1900" dirty="0"/>
          </a:p>
        </p:txBody>
      </p:sp>
      <p:sp>
        <p:nvSpPr>
          <p:cNvPr id="26" name="Text 24"/>
          <p:cNvSpPr txBox="1"/>
          <p:nvPr/>
        </p:nvSpPr>
        <p:spPr>
          <a:xfrm>
            <a:off x="8193024" y="4535424"/>
            <a:ext cx="3108960" cy="530352"/>
          </a:xfrm>
          <a:prstGeom prst="rect">
            <a:avLst/>
          </a:prstGeom>
          <a:noFill/>
          <a:ln/>
        </p:spPr>
        <p:txBody>
          <a:bodyPr wrap="square" lIns="0" tIns="0" rIns="0" bIns="0" rtlCol="0" anchor="ctr"/>
          <a:lstStyle/>
          <a:p>
            <a:pPr indent="0" marL="0">
              <a:buNone/>
            </a:pPr>
            <a:r>
              <a:rPr lang="en-US" sz="1100" dirty="0">
                <a:solidFill>
                  <a:srgbClr val="93A4B8"/>
                </a:solidFill>
                <a:latin typeface="Calibri" pitchFamily="34" charset="0"/>
                <a:ea typeface="Calibri" pitchFamily="34" charset="-122"/>
                <a:cs typeface="Calibri" pitchFamily="34" charset="-120"/>
              </a:rPr>
              <a:t>a firmware update silently breaks a parser</a:t>
            </a:r>
            <a:endParaRPr lang="en-US" sz="1100" dirty="0"/>
          </a:p>
        </p:txBody>
      </p:sp>
      <p:sp>
        <p:nvSpPr>
          <p:cNvPr id="27" name="Text 25"/>
          <p:cNvSpPr txBox="1"/>
          <p:nvPr/>
        </p:nvSpPr>
        <p:spPr>
          <a:xfrm>
            <a:off x="566928" y="5413248"/>
            <a:ext cx="11055096" cy="365760"/>
          </a:xfrm>
          <a:prstGeom prst="rect">
            <a:avLst/>
          </a:prstGeom>
          <a:noFill/>
          <a:ln/>
        </p:spPr>
        <p:txBody>
          <a:bodyPr wrap="square" lIns="0" tIns="0" rIns="0" bIns="0" rtlCol="0" anchor="ctr"/>
          <a:lstStyle/>
          <a:p>
            <a:pPr indent="0" marL="0">
              <a:buNone/>
            </a:pPr>
            <a:r>
              <a:rPr lang="en-US" sz="1300" i="1" dirty="0">
                <a:solidFill>
                  <a:srgbClr val="4C9AFF"/>
                </a:solidFill>
                <a:latin typeface="Calibri" pitchFamily="34" charset="0"/>
                <a:ea typeface="Calibri" pitchFamily="34" charset="-122"/>
                <a:cs typeface="Calibri" pitchFamily="34" charset="-120"/>
              </a:rPr>
              <a:t>The gap is not missing standards. It is the absence of a common semantic layer beneath them.</a:t>
            </a:r>
            <a:endParaRPr lang="en-US" sz="1300" dirty="0"/>
          </a:p>
        </p:txBody>
      </p:sp>
      <p:sp>
        <p:nvSpPr>
          <p:cNvPr id="29" name="Text 26"/>
          <p:cNvSpPr txBox="1"/>
          <p:nvPr/>
        </p:nvSpPr>
        <p:spPr>
          <a:xfrm>
            <a:off x="566928" y="6327648"/>
            <a:ext cx="6400800" cy="256032"/>
          </a:xfrm>
          <a:prstGeom prst="rect">
            <a:avLst/>
          </a:prstGeom>
          <a:noFill/>
          <a:ln/>
        </p:spPr>
        <p:txBody>
          <a:bodyPr wrap="square" lIns="0" tIns="0" rIns="0" bIns="0" rtlCol="0" anchor="ctr"/>
          <a:lstStyle/>
          <a:p>
            <a:pPr indent="0" marL="0">
              <a:buNone/>
            </a:pPr>
            <a:r>
              <a:rPr lang="en-US" sz="900" dirty="0">
                <a:solidFill>
                  <a:srgbClr val="64768C"/>
                </a:solidFill>
                <a:latin typeface="Calibri" pitchFamily="34" charset="0"/>
                <a:ea typeface="Calibri" pitchFamily="34" charset="-122"/>
                <a:cs typeface="Calibri" pitchFamily="34" charset="-120"/>
              </a:rPr>
              <a:t>NetBaseline AI  ·  SIH 2026  ·  PS 26155  ·  NTRO</a:t>
            </a:r>
            <a:endParaRPr lang="en-US" sz="900" dirty="0"/>
          </a:p>
        </p:txBody>
      </p:sp>
      <p:sp>
        <p:nvSpPr>
          <p:cNvPr id="30" name="Text 27"/>
          <p:cNvSpPr txBox="1"/>
          <p:nvPr/>
        </p:nvSpPr>
        <p:spPr>
          <a:xfrm>
            <a:off x="11073384" y="6327648"/>
            <a:ext cx="548640" cy="256032"/>
          </a:xfrm>
          <a:prstGeom prst="rect">
            <a:avLst/>
          </a:prstGeom>
          <a:noFill/>
          <a:ln/>
        </p:spPr>
        <p:txBody>
          <a:bodyPr wrap="square" lIns="0" tIns="0" rIns="0" bIns="0" rtlCol="0" anchor="ctr"/>
          <a:lstStyle/>
          <a:p>
            <a:pPr algn="r" indent="0" marL="0">
              <a:buNone/>
            </a:pPr>
            <a:r>
              <a:rPr lang="en-US" sz="900" dirty="0">
                <a:solidFill>
                  <a:srgbClr val="64768C"/>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52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621792"/>
          </a:xfrm>
          <a:prstGeom prst="rect">
            <a:avLst/>
          </a:prstGeom>
          <a:noFill/>
          <a:ln/>
        </p:spPr>
        <p:txBody>
          <a:bodyPr wrap="square" lIns="0" tIns="0" rIns="0" bIns="0" rtlCol="0" anchor="ctr"/>
          <a:lstStyle/>
          <a:p>
            <a:pPr indent="0" marL="0">
              <a:buNone/>
            </a:pPr>
            <a:r>
              <a:rPr lang="en-US" sz="3400" b="1" dirty="0">
                <a:solidFill>
                  <a:srgbClr val="E9EFF6"/>
                </a:solidFill>
                <a:latin typeface="Cambria" pitchFamily="34" charset="0"/>
                <a:ea typeface="Cambria" pitchFamily="34" charset="-122"/>
                <a:cs typeface="Cambria" pitchFamily="34" charset="-120"/>
              </a:rPr>
              <a:t>AI interprets. Rules decide. Humans approve.</a:t>
            </a:r>
            <a:endParaRPr lang="en-US" sz="3400" dirty="0"/>
          </a:p>
        </p:txBody>
      </p:sp>
      <p:sp>
        <p:nvSpPr>
          <p:cNvPr id="3" name="Text 1"/>
          <p:cNvSpPr txBox="1"/>
          <p:nvPr/>
        </p:nvSpPr>
        <p:spPr>
          <a:xfrm>
            <a:off x="566928" y="1024128"/>
            <a:ext cx="11055096" cy="329184"/>
          </a:xfrm>
          <a:prstGeom prst="rect">
            <a:avLst/>
          </a:prstGeom>
          <a:noFill/>
          <a:ln/>
        </p:spPr>
        <p:txBody>
          <a:bodyPr wrap="square" lIns="0" tIns="0" rIns="0" bIns="0" rtlCol="0" anchor="ctr"/>
          <a:lstStyle/>
          <a:p>
            <a:pPr indent="0" marL="0">
              <a:buNone/>
            </a:pPr>
            <a:r>
              <a:rPr lang="en-US" sz="1400" dirty="0">
                <a:solidFill>
                  <a:srgbClr val="93A4B8"/>
                </a:solidFill>
                <a:latin typeface="Calibri" pitchFamily="34" charset="0"/>
                <a:ea typeface="Calibri" pitchFamily="34" charset="-122"/>
                <a:cs typeface="Calibri" pitchFamily="34" charset="-120"/>
              </a:rPr>
              <a:t>The model is confined to answering what a command configures. It has no path to a verdict.</a:t>
            </a:r>
            <a:endParaRPr lang="en-US" sz="1400" dirty="0"/>
          </a:p>
        </p:txBody>
      </p:sp>
      <p:sp>
        <p:nvSpPr>
          <p:cNvPr id="4" name="Shape 2"/>
          <p:cNvSpPr/>
          <p:nvPr/>
        </p:nvSpPr>
        <p:spPr>
          <a:xfrm>
            <a:off x="566928" y="1572768"/>
            <a:ext cx="6858000" cy="640080"/>
          </a:xfrm>
          <a:prstGeom prst="roundRect">
            <a:avLst>
              <a:gd name="adj" fmla="val 8571"/>
            </a:avLst>
          </a:prstGeom>
          <a:solidFill>
            <a:srgbClr val="18222E"/>
          </a:solidFill>
          <a:ln w="12700">
            <a:solidFill>
              <a:srgbClr val="2B3A4C"/>
            </a:solidFill>
            <a:prstDash val="solid"/>
          </a:ln>
        </p:spPr>
      </p:sp>
      <p:sp>
        <p:nvSpPr>
          <p:cNvPr id="5" name="Text 3"/>
          <p:cNvSpPr txBox="1"/>
          <p:nvPr/>
        </p:nvSpPr>
        <p:spPr>
          <a:xfrm>
            <a:off x="768096" y="1627632"/>
            <a:ext cx="2834640" cy="274320"/>
          </a:xfrm>
          <a:prstGeom prst="rect">
            <a:avLst/>
          </a:prstGeom>
          <a:noFill/>
          <a:ln/>
        </p:spPr>
        <p:txBody>
          <a:bodyPr wrap="square" lIns="0" tIns="0" rIns="0" bIns="0" rtlCol="0" anchor="ctr"/>
          <a:lstStyle/>
          <a:p>
            <a:pPr indent="0" marL="0">
              <a:buNone/>
            </a:pPr>
            <a:r>
              <a:rPr lang="en-US" sz="1250" b="1" dirty="0">
                <a:solidFill>
                  <a:srgbClr val="E9EFF6"/>
                </a:solidFill>
                <a:latin typeface="Calibri" pitchFamily="34" charset="0"/>
                <a:ea typeface="Calibri" pitchFamily="34" charset="-122"/>
                <a:cs typeface="Calibri" pitchFamily="34" charset="-120"/>
              </a:rPr>
              <a:t>Vendor detection</a:t>
            </a:r>
            <a:endParaRPr lang="en-US" sz="1250" dirty="0"/>
          </a:p>
        </p:txBody>
      </p:sp>
      <p:sp>
        <p:nvSpPr>
          <p:cNvPr id="6" name="Text 4"/>
          <p:cNvSpPr txBox="1"/>
          <p:nvPr/>
        </p:nvSpPr>
        <p:spPr>
          <a:xfrm>
            <a:off x="768096" y="1892808"/>
            <a:ext cx="4206240" cy="256032"/>
          </a:xfrm>
          <a:prstGeom prst="rect">
            <a:avLst/>
          </a:prstGeom>
          <a:noFill/>
          <a:ln/>
        </p:spPr>
        <p:txBody>
          <a:bodyPr wrap="square" lIns="0" tIns="0" rIns="0" bIns="0" rtlCol="0" anchor="ctr"/>
          <a:lstStyle/>
          <a:p>
            <a:pPr indent="0" marL="0">
              <a:buNone/>
            </a:pPr>
            <a:r>
              <a:rPr lang="en-US" sz="1000" dirty="0">
                <a:solidFill>
                  <a:srgbClr val="93A4B8"/>
                </a:solidFill>
                <a:latin typeface="Calibri" pitchFamily="34" charset="0"/>
                <a:ea typeface="Calibri" pitchFamily="34" charset="-122"/>
                <a:cs typeface="Calibri" pitchFamily="34" charset="-120"/>
              </a:rPr>
              <a:t>weighted signature tokens</a:t>
            </a:r>
            <a:endParaRPr lang="en-US" sz="1000" dirty="0"/>
          </a:p>
        </p:txBody>
      </p:sp>
      <p:sp>
        <p:nvSpPr>
          <p:cNvPr id="7" name="Shape 5"/>
          <p:cNvSpPr/>
          <p:nvPr/>
        </p:nvSpPr>
        <p:spPr>
          <a:xfrm>
            <a:off x="5916168" y="1764792"/>
            <a:ext cx="1325880" cy="256032"/>
          </a:xfrm>
          <a:prstGeom prst="roundRect">
            <a:avLst>
              <a:gd name="adj" fmla="val 17857"/>
            </a:avLst>
          </a:prstGeom>
          <a:solidFill>
            <a:srgbClr val="212D3B"/>
          </a:solidFill>
          <a:ln/>
        </p:spPr>
      </p:sp>
      <p:sp>
        <p:nvSpPr>
          <p:cNvPr id="8" name="Text 6"/>
          <p:cNvSpPr txBox="1"/>
          <p:nvPr/>
        </p:nvSpPr>
        <p:spPr>
          <a:xfrm>
            <a:off x="5916168" y="1764792"/>
            <a:ext cx="1325880" cy="256032"/>
          </a:xfrm>
          <a:prstGeom prst="rect">
            <a:avLst/>
          </a:prstGeom>
          <a:noFill/>
          <a:ln/>
        </p:spPr>
        <p:txBody>
          <a:bodyPr wrap="square" lIns="0" tIns="0" rIns="0" bIns="0" rtlCol="0" anchor="ctr"/>
          <a:lstStyle/>
          <a:p>
            <a:pPr algn="ctr" indent="0" marL="0">
              <a:buNone/>
            </a:pPr>
            <a:r>
              <a:rPr lang="en-US" sz="850" b="1" dirty="0">
                <a:solidFill>
                  <a:srgbClr val="64768C"/>
                </a:solidFill>
                <a:latin typeface="Calibri" pitchFamily="34" charset="0"/>
                <a:ea typeface="Calibri" pitchFamily="34" charset="-122"/>
                <a:cs typeface="Calibri" pitchFamily="34" charset="-120"/>
              </a:rPr>
              <a:t>deterministic</a:t>
            </a:r>
            <a:endParaRPr lang="en-US" sz="850" dirty="0"/>
          </a:p>
        </p:txBody>
      </p:sp>
      <p:sp>
        <p:nvSpPr>
          <p:cNvPr id="9" name="Text 7"/>
          <p:cNvSpPr txBox="1"/>
          <p:nvPr/>
        </p:nvSpPr>
        <p:spPr>
          <a:xfrm>
            <a:off x="1024128" y="2194560"/>
            <a:ext cx="274320" cy="182880"/>
          </a:xfrm>
          <a:prstGeom prst="rect">
            <a:avLst/>
          </a:prstGeom>
          <a:noFill/>
          <a:ln/>
        </p:spPr>
        <p:txBody>
          <a:bodyPr wrap="square" lIns="0" tIns="0" rIns="0" bIns="0" rtlCol="0" anchor="ctr"/>
          <a:lstStyle/>
          <a:p>
            <a:pPr algn="ctr" indent="0" marL="0">
              <a:buNone/>
            </a:pPr>
            <a:r>
              <a:rPr lang="en-US" sz="900" dirty="0">
                <a:solidFill>
                  <a:srgbClr val="2B3A4C"/>
                </a:solidFill>
                <a:latin typeface="Calibri" pitchFamily="34" charset="0"/>
                <a:ea typeface="Calibri" pitchFamily="34" charset="-122"/>
                <a:cs typeface="Calibri" pitchFamily="34" charset="-120"/>
              </a:rPr>
              <a:t>▼</a:t>
            </a:r>
            <a:endParaRPr lang="en-US" sz="900" dirty="0"/>
          </a:p>
        </p:txBody>
      </p:sp>
      <p:sp>
        <p:nvSpPr>
          <p:cNvPr id="10" name="Shape 8"/>
          <p:cNvSpPr/>
          <p:nvPr/>
        </p:nvSpPr>
        <p:spPr>
          <a:xfrm>
            <a:off x="566928" y="2359152"/>
            <a:ext cx="6858000" cy="640080"/>
          </a:xfrm>
          <a:prstGeom prst="roundRect">
            <a:avLst>
              <a:gd name="adj" fmla="val 8571"/>
            </a:avLst>
          </a:prstGeom>
          <a:solidFill>
            <a:srgbClr val="18222E"/>
          </a:solidFill>
          <a:ln w="12700">
            <a:solidFill>
              <a:srgbClr val="2B3A4C"/>
            </a:solidFill>
            <a:prstDash val="solid"/>
          </a:ln>
        </p:spPr>
      </p:sp>
      <p:sp>
        <p:nvSpPr>
          <p:cNvPr id="11" name="Text 9"/>
          <p:cNvSpPr txBox="1"/>
          <p:nvPr/>
        </p:nvSpPr>
        <p:spPr>
          <a:xfrm>
            <a:off x="768096" y="2414016"/>
            <a:ext cx="2834640" cy="274320"/>
          </a:xfrm>
          <a:prstGeom prst="rect">
            <a:avLst/>
          </a:prstGeom>
          <a:noFill/>
          <a:ln/>
        </p:spPr>
        <p:txBody>
          <a:bodyPr wrap="square" lIns="0" tIns="0" rIns="0" bIns="0" rtlCol="0" anchor="ctr"/>
          <a:lstStyle/>
          <a:p>
            <a:pPr indent="0" marL="0">
              <a:buNone/>
            </a:pPr>
            <a:r>
              <a:rPr lang="en-US" sz="1250" b="1" dirty="0">
                <a:solidFill>
                  <a:srgbClr val="E9EFF6"/>
                </a:solidFill>
                <a:latin typeface="Calibri" pitchFamily="34" charset="0"/>
                <a:ea typeface="Calibri" pitchFamily="34" charset="-122"/>
                <a:cs typeface="Calibri" pitchFamily="34" charset="-120"/>
              </a:rPr>
              <a:t>Parsing engine</a:t>
            </a:r>
            <a:endParaRPr lang="en-US" sz="1250" dirty="0"/>
          </a:p>
        </p:txBody>
      </p:sp>
      <p:sp>
        <p:nvSpPr>
          <p:cNvPr id="12" name="Text 10"/>
          <p:cNvSpPr txBox="1"/>
          <p:nvPr/>
        </p:nvSpPr>
        <p:spPr>
          <a:xfrm>
            <a:off x="768096" y="2679192"/>
            <a:ext cx="4206240" cy="256032"/>
          </a:xfrm>
          <a:prstGeom prst="rect">
            <a:avLst/>
          </a:prstGeom>
          <a:noFill/>
          <a:ln/>
        </p:spPr>
        <p:txBody>
          <a:bodyPr wrap="square" lIns="0" tIns="0" rIns="0" bIns="0" rtlCol="0" anchor="ctr"/>
          <a:lstStyle/>
          <a:p>
            <a:pPr indent="0" marL="0">
              <a:buNone/>
            </a:pPr>
            <a:r>
              <a:rPr lang="en-US" sz="1000" dirty="0">
                <a:solidFill>
                  <a:srgbClr val="93A4B8"/>
                </a:solidFill>
                <a:latin typeface="Calibri" pitchFamily="34" charset="0"/>
                <a:ea typeface="Calibri" pitchFamily="34" charset="-122"/>
                <a:cs typeface="Calibri" pitchFamily="34" charset="-120"/>
              </a:rPr>
              <a:t>one engine, JSON rule packs · CLI or JSON input</a:t>
            </a:r>
            <a:endParaRPr lang="en-US" sz="1000" dirty="0"/>
          </a:p>
        </p:txBody>
      </p:sp>
      <p:sp>
        <p:nvSpPr>
          <p:cNvPr id="13" name="Shape 11"/>
          <p:cNvSpPr/>
          <p:nvPr/>
        </p:nvSpPr>
        <p:spPr>
          <a:xfrm>
            <a:off x="5916168" y="2551176"/>
            <a:ext cx="1325880" cy="256032"/>
          </a:xfrm>
          <a:prstGeom prst="roundRect">
            <a:avLst>
              <a:gd name="adj" fmla="val 17857"/>
            </a:avLst>
          </a:prstGeom>
          <a:solidFill>
            <a:srgbClr val="212D3B"/>
          </a:solidFill>
          <a:ln/>
        </p:spPr>
      </p:sp>
      <p:sp>
        <p:nvSpPr>
          <p:cNvPr id="14" name="Text 12"/>
          <p:cNvSpPr txBox="1"/>
          <p:nvPr/>
        </p:nvSpPr>
        <p:spPr>
          <a:xfrm>
            <a:off x="5916168" y="2551176"/>
            <a:ext cx="1325880" cy="256032"/>
          </a:xfrm>
          <a:prstGeom prst="rect">
            <a:avLst/>
          </a:prstGeom>
          <a:noFill/>
          <a:ln/>
        </p:spPr>
        <p:txBody>
          <a:bodyPr wrap="square" lIns="0" tIns="0" rIns="0" bIns="0" rtlCol="0" anchor="ctr"/>
          <a:lstStyle/>
          <a:p>
            <a:pPr algn="ctr" indent="0" marL="0">
              <a:buNone/>
            </a:pPr>
            <a:r>
              <a:rPr lang="en-US" sz="850" b="1" dirty="0">
                <a:solidFill>
                  <a:srgbClr val="64768C"/>
                </a:solidFill>
                <a:latin typeface="Calibri" pitchFamily="34" charset="0"/>
                <a:ea typeface="Calibri" pitchFamily="34" charset="-122"/>
                <a:cs typeface="Calibri" pitchFamily="34" charset="-120"/>
              </a:rPr>
              <a:t>deterministic</a:t>
            </a:r>
            <a:endParaRPr lang="en-US" sz="850" dirty="0"/>
          </a:p>
        </p:txBody>
      </p:sp>
      <p:sp>
        <p:nvSpPr>
          <p:cNvPr id="15" name="Text 13"/>
          <p:cNvSpPr txBox="1"/>
          <p:nvPr/>
        </p:nvSpPr>
        <p:spPr>
          <a:xfrm>
            <a:off x="1024128" y="2980944"/>
            <a:ext cx="274320" cy="182880"/>
          </a:xfrm>
          <a:prstGeom prst="rect">
            <a:avLst/>
          </a:prstGeom>
          <a:noFill/>
          <a:ln/>
        </p:spPr>
        <p:txBody>
          <a:bodyPr wrap="square" lIns="0" tIns="0" rIns="0" bIns="0" rtlCol="0" anchor="ctr"/>
          <a:lstStyle/>
          <a:p>
            <a:pPr algn="ctr" indent="0" marL="0">
              <a:buNone/>
            </a:pPr>
            <a:r>
              <a:rPr lang="en-US" sz="900" dirty="0">
                <a:solidFill>
                  <a:srgbClr val="2B3A4C"/>
                </a:solidFill>
                <a:latin typeface="Calibri" pitchFamily="34" charset="0"/>
                <a:ea typeface="Calibri" pitchFamily="34" charset="-122"/>
                <a:cs typeface="Calibri" pitchFamily="34" charset="-120"/>
              </a:rPr>
              <a:t>▼</a:t>
            </a:r>
            <a:endParaRPr lang="en-US" sz="900" dirty="0"/>
          </a:p>
        </p:txBody>
      </p:sp>
      <p:sp>
        <p:nvSpPr>
          <p:cNvPr id="16" name="Shape 14"/>
          <p:cNvSpPr/>
          <p:nvPr/>
        </p:nvSpPr>
        <p:spPr>
          <a:xfrm>
            <a:off x="566928" y="3145536"/>
            <a:ext cx="6858000" cy="640080"/>
          </a:xfrm>
          <a:prstGeom prst="roundRect">
            <a:avLst>
              <a:gd name="adj" fmla="val 8571"/>
            </a:avLst>
          </a:prstGeom>
          <a:solidFill>
            <a:srgbClr val="18222E"/>
          </a:solidFill>
          <a:ln w="12700">
            <a:solidFill>
              <a:srgbClr val="4C9AFF"/>
            </a:solidFill>
            <a:prstDash val="solid"/>
          </a:ln>
        </p:spPr>
      </p:sp>
      <p:sp>
        <p:nvSpPr>
          <p:cNvPr id="17" name="Text 15"/>
          <p:cNvSpPr txBox="1"/>
          <p:nvPr/>
        </p:nvSpPr>
        <p:spPr>
          <a:xfrm>
            <a:off x="768096" y="3200400"/>
            <a:ext cx="2834640" cy="274320"/>
          </a:xfrm>
          <a:prstGeom prst="rect">
            <a:avLst/>
          </a:prstGeom>
          <a:noFill/>
          <a:ln/>
        </p:spPr>
        <p:txBody>
          <a:bodyPr wrap="square" lIns="0" tIns="0" rIns="0" bIns="0" rtlCol="0" anchor="ctr"/>
          <a:lstStyle/>
          <a:p>
            <a:pPr indent="0" marL="0">
              <a:buNone/>
            </a:pPr>
            <a:r>
              <a:rPr lang="en-US" sz="1250" b="1" dirty="0">
                <a:solidFill>
                  <a:srgbClr val="E9EFF6"/>
                </a:solidFill>
                <a:latin typeface="Calibri" pitchFamily="34" charset="0"/>
                <a:ea typeface="Calibri" pitchFamily="34" charset="-122"/>
                <a:cs typeface="Calibri" pitchFamily="34" charset="-120"/>
              </a:rPr>
              <a:t>Semantic layer</a:t>
            </a:r>
            <a:endParaRPr lang="en-US" sz="1250" dirty="0"/>
          </a:p>
        </p:txBody>
      </p:sp>
      <p:sp>
        <p:nvSpPr>
          <p:cNvPr id="18" name="Text 16"/>
          <p:cNvSpPr txBox="1"/>
          <p:nvPr/>
        </p:nvSpPr>
        <p:spPr>
          <a:xfrm>
            <a:off x="768096" y="3465576"/>
            <a:ext cx="4206240" cy="256032"/>
          </a:xfrm>
          <a:prstGeom prst="rect">
            <a:avLst/>
          </a:prstGeom>
          <a:noFill/>
          <a:ln/>
        </p:spPr>
        <p:txBody>
          <a:bodyPr wrap="square" lIns="0" tIns="0" rIns="0" bIns="0" rtlCol="0" anchor="ctr"/>
          <a:lstStyle/>
          <a:p>
            <a:pPr indent="0" marL="0">
              <a:buNone/>
            </a:pPr>
            <a:r>
              <a:rPr lang="en-US" sz="1000" dirty="0">
                <a:solidFill>
                  <a:srgbClr val="93A4B8"/>
                </a:solidFill>
                <a:latin typeface="Calibri" pitchFamily="34" charset="0"/>
                <a:ea typeface="Calibri" pitchFamily="34" charset="-122"/>
                <a:cs typeface="Calibri" pitchFamily="34" charset="-120"/>
              </a:rPr>
              <a:t>retrieval → LLM → schema validation</a:t>
            </a:r>
            <a:endParaRPr lang="en-US" sz="1000" dirty="0"/>
          </a:p>
        </p:txBody>
      </p:sp>
      <p:sp>
        <p:nvSpPr>
          <p:cNvPr id="19" name="Shape 17"/>
          <p:cNvSpPr/>
          <p:nvPr/>
        </p:nvSpPr>
        <p:spPr>
          <a:xfrm>
            <a:off x="5916168" y="3337560"/>
            <a:ext cx="1325880" cy="256032"/>
          </a:xfrm>
          <a:prstGeom prst="roundRect">
            <a:avLst>
              <a:gd name="adj" fmla="val 17857"/>
            </a:avLst>
          </a:prstGeom>
          <a:solidFill>
            <a:srgbClr val="212D3B"/>
          </a:solidFill>
          <a:ln/>
        </p:spPr>
      </p:sp>
      <p:sp>
        <p:nvSpPr>
          <p:cNvPr id="20" name="Text 18"/>
          <p:cNvSpPr txBox="1"/>
          <p:nvPr/>
        </p:nvSpPr>
        <p:spPr>
          <a:xfrm>
            <a:off x="5916168" y="3337560"/>
            <a:ext cx="1325880" cy="256032"/>
          </a:xfrm>
          <a:prstGeom prst="rect">
            <a:avLst/>
          </a:prstGeom>
          <a:noFill/>
          <a:ln/>
        </p:spPr>
        <p:txBody>
          <a:bodyPr wrap="square" lIns="0" tIns="0" rIns="0" bIns="0" rtlCol="0" anchor="ctr"/>
          <a:lstStyle/>
          <a:p>
            <a:pPr algn="ctr" indent="0" marL="0">
              <a:buNone/>
            </a:pPr>
            <a:r>
              <a:rPr lang="en-US" sz="850" b="1" dirty="0">
                <a:solidFill>
                  <a:srgbClr val="4C9AFF"/>
                </a:solidFill>
                <a:latin typeface="Calibri" pitchFamily="34" charset="0"/>
                <a:ea typeface="Calibri" pitchFamily="34" charset="-122"/>
                <a:cs typeface="Calibri" pitchFamily="34" charset="-120"/>
              </a:rPr>
              <a:t>AI, constrained</a:t>
            </a:r>
            <a:endParaRPr lang="en-US" sz="850" dirty="0"/>
          </a:p>
        </p:txBody>
      </p:sp>
      <p:sp>
        <p:nvSpPr>
          <p:cNvPr id="21" name="Text 19"/>
          <p:cNvSpPr txBox="1"/>
          <p:nvPr/>
        </p:nvSpPr>
        <p:spPr>
          <a:xfrm>
            <a:off x="1024128" y="3767328"/>
            <a:ext cx="274320" cy="182880"/>
          </a:xfrm>
          <a:prstGeom prst="rect">
            <a:avLst/>
          </a:prstGeom>
          <a:noFill/>
          <a:ln/>
        </p:spPr>
        <p:txBody>
          <a:bodyPr wrap="square" lIns="0" tIns="0" rIns="0" bIns="0" rtlCol="0" anchor="ctr"/>
          <a:lstStyle/>
          <a:p>
            <a:pPr algn="ctr" indent="0" marL="0">
              <a:buNone/>
            </a:pPr>
            <a:r>
              <a:rPr lang="en-US" sz="900" dirty="0">
                <a:solidFill>
                  <a:srgbClr val="2B3A4C"/>
                </a:solidFill>
                <a:latin typeface="Calibri" pitchFamily="34" charset="0"/>
                <a:ea typeface="Calibri" pitchFamily="34" charset="-122"/>
                <a:cs typeface="Calibri" pitchFamily="34" charset="-120"/>
              </a:rPr>
              <a:t>▼</a:t>
            </a:r>
            <a:endParaRPr lang="en-US" sz="900" dirty="0"/>
          </a:p>
        </p:txBody>
      </p:sp>
      <p:sp>
        <p:nvSpPr>
          <p:cNvPr id="22" name="Shape 20"/>
          <p:cNvSpPr/>
          <p:nvPr/>
        </p:nvSpPr>
        <p:spPr>
          <a:xfrm>
            <a:off x="566928" y="3931920"/>
            <a:ext cx="6858000" cy="640080"/>
          </a:xfrm>
          <a:prstGeom prst="roundRect">
            <a:avLst>
              <a:gd name="adj" fmla="val 8571"/>
            </a:avLst>
          </a:prstGeom>
          <a:solidFill>
            <a:srgbClr val="18222E"/>
          </a:solidFill>
          <a:ln w="12700">
            <a:solidFill>
              <a:srgbClr val="2B3A4C"/>
            </a:solidFill>
            <a:prstDash val="solid"/>
          </a:ln>
        </p:spPr>
      </p:sp>
      <p:sp>
        <p:nvSpPr>
          <p:cNvPr id="23" name="Text 21"/>
          <p:cNvSpPr txBox="1"/>
          <p:nvPr/>
        </p:nvSpPr>
        <p:spPr>
          <a:xfrm>
            <a:off x="768096" y="3986784"/>
            <a:ext cx="2834640" cy="274320"/>
          </a:xfrm>
          <a:prstGeom prst="rect">
            <a:avLst/>
          </a:prstGeom>
          <a:noFill/>
          <a:ln/>
        </p:spPr>
        <p:txBody>
          <a:bodyPr wrap="square" lIns="0" tIns="0" rIns="0" bIns="0" rtlCol="0" anchor="ctr"/>
          <a:lstStyle/>
          <a:p>
            <a:pPr indent="0" marL="0">
              <a:buNone/>
            </a:pPr>
            <a:r>
              <a:rPr lang="en-US" sz="1250" b="1" dirty="0">
                <a:solidFill>
                  <a:srgbClr val="E9EFF6"/>
                </a:solidFill>
                <a:latin typeface="Calibri" pitchFamily="34" charset="0"/>
                <a:ea typeface="Calibri" pitchFamily="34" charset="-122"/>
                <a:cs typeface="Calibri" pitchFamily="34" charset="-120"/>
              </a:rPr>
              <a:t>Security baseline model</a:t>
            </a:r>
            <a:endParaRPr lang="en-US" sz="1250" dirty="0"/>
          </a:p>
        </p:txBody>
      </p:sp>
      <p:sp>
        <p:nvSpPr>
          <p:cNvPr id="24" name="Text 22"/>
          <p:cNvSpPr txBox="1"/>
          <p:nvPr/>
        </p:nvSpPr>
        <p:spPr>
          <a:xfrm>
            <a:off x="768096" y="4251960"/>
            <a:ext cx="4206240" cy="256032"/>
          </a:xfrm>
          <a:prstGeom prst="rect">
            <a:avLst/>
          </a:prstGeom>
          <a:noFill/>
          <a:ln/>
        </p:spPr>
        <p:txBody>
          <a:bodyPr wrap="square" lIns="0" tIns="0" rIns="0" bIns="0" rtlCol="0" anchor="ctr"/>
          <a:lstStyle/>
          <a:p>
            <a:pPr indent="0" marL="0">
              <a:buNone/>
            </a:pPr>
            <a:r>
              <a:rPr lang="en-US" sz="1000" dirty="0">
                <a:solidFill>
                  <a:srgbClr val="93A4B8"/>
                </a:solidFill>
                <a:latin typeface="Calibri" pitchFamily="34" charset="0"/>
                <a:ea typeface="Calibri" pitchFamily="34" charset="-122"/>
                <a:cs typeface="Calibri" pitchFamily="34" charset="-120"/>
              </a:rPr>
              <a:t>24 canonical parameters + provenance</a:t>
            </a:r>
            <a:endParaRPr lang="en-US" sz="1000" dirty="0"/>
          </a:p>
        </p:txBody>
      </p:sp>
      <p:sp>
        <p:nvSpPr>
          <p:cNvPr id="25" name="Shape 23"/>
          <p:cNvSpPr/>
          <p:nvPr/>
        </p:nvSpPr>
        <p:spPr>
          <a:xfrm>
            <a:off x="5916168" y="4123944"/>
            <a:ext cx="1325880" cy="256032"/>
          </a:xfrm>
          <a:prstGeom prst="roundRect">
            <a:avLst>
              <a:gd name="adj" fmla="val 17857"/>
            </a:avLst>
          </a:prstGeom>
          <a:solidFill>
            <a:srgbClr val="212D3B"/>
          </a:solidFill>
          <a:ln/>
        </p:spPr>
      </p:sp>
      <p:sp>
        <p:nvSpPr>
          <p:cNvPr id="26" name="Text 24"/>
          <p:cNvSpPr txBox="1"/>
          <p:nvPr/>
        </p:nvSpPr>
        <p:spPr>
          <a:xfrm>
            <a:off x="5916168" y="4123944"/>
            <a:ext cx="1325880" cy="256032"/>
          </a:xfrm>
          <a:prstGeom prst="rect">
            <a:avLst/>
          </a:prstGeom>
          <a:noFill/>
          <a:ln/>
        </p:spPr>
        <p:txBody>
          <a:bodyPr wrap="square" lIns="0" tIns="0" rIns="0" bIns="0" rtlCol="0" anchor="ctr"/>
          <a:lstStyle/>
          <a:p>
            <a:pPr algn="ctr" indent="0" marL="0">
              <a:buNone/>
            </a:pPr>
            <a:r>
              <a:rPr lang="en-US" sz="850" b="1" dirty="0">
                <a:solidFill>
                  <a:srgbClr val="35D0A5"/>
                </a:solidFill>
                <a:latin typeface="Calibri" pitchFamily="34" charset="0"/>
                <a:ea typeface="Calibri" pitchFamily="34" charset="-122"/>
                <a:cs typeface="Calibri" pitchFamily="34" charset="-120"/>
              </a:rPr>
              <a:t>normalised</a:t>
            </a:r>
            <a:endParaRPr lang="en-US" sz="850" dirty="0"/>
          </a:p>
        </p:txBody>
      </p:sp>
      <p:sp>
        <p:nvSpPr>
          <p:cNvPr id="27" name="Text 25"/>
          <p:cNvSpPr txBox="1"/>
          <p:nvPr/>
        </p:nvSpPr>
        <p:spPr>
          <a:xfrm>
            <a:off x="1024128" y="4553712"/>
            <a:ext cx="274320" cy="182880"/>
          </a:xfrm>
          <a:prstGeom prst="rect">
            <a:avLst/>
          </a:prstGeom>
          <a:noFill/>
          <a:ln/>
        </p:spPr>
        <p:txBody>
          <a:bodyPr wrap="square" lIns="0" tIns="0" rIns="0" bIns="0" rtlCol="0" anchor="ctr"/>
          <a:lstStyle/>
          <a:p>
            <a:pPr algn="ctr" indent="0" marL="0">
              <a:buNone/>
            </a:pPr>
            <a:r>
              <a:rPr lang="en-US" sz="900" dirty="0">
                <a:solidFill>
                  <a:srgbClr val="2B3A4C"/>
                </a:solidFill>
                <a:latin typeface="Calibri" pitchFamily="34" charset="0"/>
                <a:ea typeface="Calibri" pitchFamily="34" charset="-122"/>
                <a:cs typeface="Calibri" pitchFamily="34" charset="-120"/>
              </a:rPr>
              <a:t>▼</a:t>
            </a:r>
            <a:endParaRPr lang="en-US" sz="900" dirty="0"/>
          </a:p>
        </p:txBody>
      </p:sp>
      <p:sp>
        <p:nvSpPr>
          <p:cNvPr id="28" name="Shape 26"/>
          <p:cNvSpPr/>
          <p:nvPr/>
        </p:nvSpPr>
        <p:spPr>
          <a:xfrm>
            <a:off x="566928" y="4718304"/>
            <a:ext cx="6858000" cy="640080"/>
          </a:xfrm>
          <a:prstGeom prst="roundRect">
            <a:avLst>
              <a:gd name="adj" fmla="val 8571"/>
            </a:avLst>
          </a:prstGeom>
          <a:solidFill>
            <a:srgbClr val="18222E"/>
          </a:solidFill>
          <a:ln w="12700">
            <a:solidFill>
              <a:srgbClr val="2B3A4C"/>
            </a:solidFill>
            <a:prstDash val="solid"/>
          </a:ln>
        </p:spPr>
      </p:sp>
      <p:sp>
        <p:nvSpPr>
          <p:cNvPr id="29" name="Text 27"/>
          <p:cNvSpPr txBox="1"/>
          <p:nvPr/>
        </p:nvSpPr>
        <p:spPr>
          <a:xfrm>
            <a:off x="768096" y="4773168"/>
            <a:ext cx="2834640" cy="274320"/>
          </a:xfrm>
          <a:prstGeom prst="rect">
            <a:avLst/>
          </a:prstGeom>
          <a:noFill/>
          <a:ln/>
        </p:spPr>
        <p:txBody>
          <a:bodyPr wrap="square" lIns="0" tIns="0" rIns="0" bIns="0" rtlCol="0" anchor="ctr"/>
          <a:lstStyle/>
          <a:p>
            <a:pPr indent="0" marL="0">
              <a:buNone/>
            </a:pPr>
            <a:r>
              <a:rPr lang="en-US" sz="1250" b="1" dirty="0">
                <a:solidFill>
                  <a:srgbClr val="E9EFF6"/>
                </a:solidFill>
                <a:latin typeface="Calibri" pitchFamily="34" charset="0"/>
                <a:ea typeface="Calibri" pitchFamily="34" charset="-122"/>
                <a:cs typeface="Calibri" pitchFamily="34" charset="-120"/>
              </a:rPr>
              <a:t>Compliance engine</a:t>
            </a:r>
            <a:endParaRPr lang="en-US" sz="1250" dirty="0"/>
          </a:p>
        </p:txBody>
      </p:sp>
      <p:sp>
        <p:nvSpPr>
          <p:cNvPr id="30" name="Text 28"/>
          <p:cNvSpPr txBox="1"/>
          <p:nvPr/>
        </p:nvSpPr>
        <p:spPr>
          <a:xfrm>
            <a:off x="768096" y="5038344"/>
            <a:ext cx="4206240" cy="256032"/>
          </a:xfrm>
          <a:prstGeom prst="rect">
            <a:avLst/>
          </a:prstGeom>
          <a:noFill/>
          <a:ln/>
        </p:spPr>
        <p:txBody>
          <a:bodyPr wrap="square" lIns="0" tIns="0" rIns="0" bIns="0" rtlCol="0" anchor="ctr"/>
          <a:lstStyle/>
          <a:p>
            <a:pPr indent="0" marL="0">
              <a:buNone/>
            </a:pPr>
            <a:r>
              <a:rPr lang="en-US" sz="1000" dirty="0">
                <a:solidFill>
                  <a:srgbClr val="93A4B8"/>
                </a:solidFill>
                <a:latin typeface="Calibri" pitchFamily="34" charset="0"/>
                <a:ea typeface="Calibri" pitchFamily="34" charset="-122"/>
                <a:cs typeface="Calibri" pitchFamily="34" charset="-120"/>
              </a:rPr>
              <a:t>pure comparison · PASS / FAIL / UNKNOWN / N/A</a:t>
            </a:r>
            <a:endParaRPr lang="en-US" sz="1000" dirty="0"/>
          </a:p>
        </p:txBody>
      </p:sp>
      <p:sp>
        <p:nvSpPr>
          <p:cNvPr id="31" name="Shape 29"/>
          <p:cNvSpPr/>
          <p:nvPr/>
        </p:nvSpPr>
        <p:spPr>
          <a:xfrm>
            <a:off x="5916168" y="4910328"/>
            <a:ext cx="1325880" cy="256032"/>
          </a:xfrm>
          <a:prstGeom prst="roundRect">
            <a:avLst>
              <a:gd name="adj" fmla="val 17857"/>
            </a:avLst>
          </a:prstGeom>
          <a:solidFill>
            <a:srgbClr val="212D3B"/>
          </a:solidFill>
          <a:ln/>
        </p:spPr>
      </p:sp>
      <p:sp>
        <p:nvSpPr>
          <p:cNvPr id="32" name="Text 30"/>
          <p:cNvSpPr txBox="1"/>
          <p:nvPr/>
        </p:nvSpPr>
        <p:spPr>
          <a:xfrm>
            <a:off x="5916168" y="4910328"/>
            <a:ext cx="1325880" cy="256032"/>
          </a:xfrm>
          <a:prstGeom prst="rect">
            <a:avLst/>
          </a:prstGeom>
          <a:noFill/>
          <a:ln/>
        </p:spPr>
        <p:txBody>
          <a:bodyPr wrap="square" lIns="0" tIns="0" rIns="0" bIns="0" rtlCol="0" anchor="ctr"/>
          <a:lstStyle/>
          <a:p>
            <a:pPr algn="ctr" indent="0" marL="0">
              <a:buNone/>
            </a:pPr>
            <a:r>
              <a:rPr lang="en-US" sz="850" b="1" dirty="0">
                <a:solidFill>
                  <a:srgbClr val="35D0A5"/>
                </a:solidFill>
                <a:latin typeface="Calibri" pitchFamily="34" charset="0"/>
                <a:ea typeface="Calibri" pitchFamily="34" charset="-122"/>
                <a:cs typeface="Calibri" pitchFamily="34" charset="-120"/>
              </a:rPr>
              <a:t>no AI, by design</a:t>
            </a:r>
            <a:endParaRPr lang="en-US" sz="850" dirty="0"/>
          </a:p>
        </p:txBody>
      </p:sp>
      <p:sp>
        <p:nvSpPr>
          <p:cNvPr id="33" name="Shape 31"/>
          <p:cNvSpPr/>
          <p:nvPr/>
        </p:nvSpPr>
        <p:spPr>
          <a:xfrm>
            <a:off x="7744968" y="1572768"/>
            <a:ext cx="3877056" cy="2212848"/>
          </a:xfrm>
          <a:prstGeom prst="roundRect">
            <a:avLst>
              <a:gd name="adj" fmla="val 2479"/>
            </a:avLst>
          </a:prstGeom>
          <a:solidFill>
            <a:srgbClr val="212D3B"/>
          </a:solidFill>
          <a:ln w="12700">
            <a:solidFill>
              <a:srgbClr val="FFA23C"/>
            </a:solidFill>
            <a:prstDash val="solid"/>
          </a:ln>
        </p:spPr>
      </p:sp>
      <p:sp>
        <p:nvSpPr>
          <p:cNvPr id="34" name="Text 32"/>
          <p:cNvSpPr txBox="1"/>
          <p:nvPr/>
        </p:nvSpPr>
        <p:spPr>
          <a:xfrm>
            <a:off x="7927848" y="1737360"/>
            <a:ext cx="3566160" cy="274320"/>
          </a:xfrm>
          <a:prstGeom prst="rect">
            <a:avLst/>
          </a:prstGeom>
          <a:noFill/>
          <a:ln/>
        </p:spPr>
        <p:txBody>
          <a:bodyPr wrap="square" lIns="0" tIns="0" rIns="0" bIns="0" rtlCol="0" anchor="ctr"/>
          <a:lstStyle/>
          <a:p>
            <a:pPr indent="0" marL="0">
              <a:buNone/>
            </a:pPr>
            <a:r>
              <a:rPr lang="en-US" sz="1150" b="1" dirty="0">
                <a:solidFill>
                  <a:srgbClr val="FFA23C"/>
                </a:solidFill>
                <a:latin typeface="Calibri" pitchFamily="34" charset="0"/>
                <a:ea typeface="Calibri" pitchFamily="34" charset="-122"/>
                <a:cs typeface="Calibri" pitchFamily="34" charset="-120"/>
              </a:rPr>
              <a:t>Unrecognised command</a:t>
            </a:r>
            <a:endParaRPr lang="en-US" sz="1150" dirty="0"/>
          </a:p>
        </p:txBody>
      </p:sp>
      <p:sp>
        <p:nvSpPr>
          <p:cNvPr id="35" name="Text 33"/>
          <p:cNvSpPr txBox="1"/>
          <p:nvPr/>
        </p:nvSpPr>
        <p:spPr>
          <a:xfrm>
            <a:off x="7927848" y="2066544"/>
            <a:ext cx="3566160" cy="137160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93A4B8"/>
                </a:solidFill>
                <a:latin typeface="Calibri" pitchFamily="34" charset="0"/>
                <a:ea typeface="Calibri" pitchFamily="34" charset="-122"/>
                <a:cs typeface="Calibri" pitchFamily="34" charset="-120"/>
              </a:rPr>
              <a:t>Model proposes a mapping with its confidence</a:t>
            </a:r>
            <a:endParaRPr lang="en-US" sz="1050" dirty="0"/>
          </a:p>
          <a:p>
            <a:pPr marL="342900" indent="-342900">
              <a:spcAft>
                <a:spcPts val="500"/>
              </a:spcAft>
              <a:buSzPct val="100000"/>
              <a:buChar char="•"/>
            </a:pPr>
            <a:r>
              <a:rPr lang="en-US" sz="1050" dirty="0">
                <a:solidFill>
                  <a:srgbClr val="93A4B8"/>
                </a:solidFill>
                <a:latin typeface="Calibri" pitchFamily="34" charset="0"/>
                <a:ea typeface="Calibri" pitchFamily="34" charset="-122"/>
                <a:cs typeface="Calibri" pitchFamily="34" charset="-120"/>
              </a:rPr>
              <a:t>Administrator approves or corrects it</a:t>
            </a:r>
            <a:endParaRPr lang="en-US" sz="1050" dirty="0"/>
          </a:p>
          <a:p>
            <a:pPr marL="342900" indent="-342900">
              <a:spcAft>
                <a:spcPts val="500"/>
              </a:spcAft>
              <a:buSzPct val="100000"/>
              <a:buChar char="•"/>
            </a:pPr>
            <a:r>
              <a:rPr lang="en-US" sz="1050" dirty="0">
                <a:solidFill>
                  <a:srgbClr val="93A4B8"/>
                </a:solidFill>
                <a:latin typeface="Calibri" pitchFamily="34" charset="0"/>
                <a:ea typeface="Calibri" pitchFamily="34" charset="-122"/>
                <a:cs typeface="Calibri" pitchFamily="34" charset="-120"/>
              </a:rPr>
              <a:t>Written into the vendor rule pack on disk</a:t>
            </a:r>
            <a:endParaRPr lang="en-US" sz="1050" dirty="0"/>
          </a:p>
          <a:p>
            <a:pPr marL="342900" indent="-342900">
              <a:spcAft>
                <a:spcPts val="500"/>
              </a:spcAft>
              <a:buSzPct val="100000"/>
              <a:buChar char="•"/>
            </a:pPr>
            <a:r>
              <a:rPr lang="en-US" sz="1050" dirty="0">
                <a:solidFill>
                  <a:srgbClr val="93A4B8"/>
                </a:solidFill>
                <a:latin typeface="Calibri" pitchFamily="34" charset="0"/>
                <a:ea typeface="Calibri" pitchFamily="34" charset="-122"/>
                <a:cs typeface="Calibri" pitchFamily="34" charset="-120"/>
              </a:rPr>
              <a:t>Recognised deterministically from then on</a:t>
            </a:r>
            <a:endParaRPr lang="en-US" sz="1050" dirty="0"/>
          </a:p>
        </p:txBody>
      </p:sp>
      <p:sp>
        <p:nvSpPr>
          <p:cNvPr id="36" name="Text 34"/>
          <p:cNvSpPr txBox="1"/>
          <p:nvPr/>
        </p:nvSpPr>
        <p:spPr>
          <a:xfrm>
            <a:off x="7927848" y="3456432"/>
            <a:ext cx="3566160" cy="256032"/>
          </a:xfrm>
          <a:prstGeom prst="rect">
            <a:avLst/>
          </a:prstGeom>
          <a:noFill/>
          <a:ln/>
        </p:spPr>
        <p:txBody>
          <a:bodyPr wrap="square" lIns="0" tIns="0" rIns="0" bIns="0" rtlCol="0" anchor="ctr"/>
          <a:lstStyle/>
          <a:p>
            <a:pPr indent="0" marL="0">
              <a:buNone/>
            </a:pPr>
            <a:r>
              <a:rPr lang="en-US" sz="1050" b="1" i="1" dirty="0">
                <a:solidFill>
                  <a:srgbClr val="35D0A5"/>
                </a:solidFill>
                <a:latin typeface="Calibri" pitchFamily="34" charset="0"/>
                <a:ea typeface="Calibri" pitchFamily="34" charset="-122"/>
                <a:cs typeface="Calibri" pitchFamily="34" charset="-120"/>
              </a:rPr>
              <a:t>No retraining. No redeployment.</a:t>
            </a:r>
            <a:endParaRPr lang="en-US" sz="1050" dirty="0"/>
          </a:p>
        </p:txBody>
      </p:sp>
      <p:sp>
        <p:nvSpPr>
          <p:cNvPr id="37" name="Shape 35"/>
          <p:cNvSpPr/>
          <p:nvPr/>
        </p:nvSpPr>
        <p:spPr>
          <a:xfrm>
            <a:off x="7744968" y="3968496"/>
            <a:ext cx="3877056" cy="1554480"/>
          </a:xfrm>
          <a:prstGeom prst="roundRect">
            <a:avLst>
              <a:gd name="adj" fmla="val 3529"/>
            </a:avLst>
          </a:prstGeom>
          <a:solidFill>
            <a:srgbClr val="18222E"/>
          </a:solidFill>
          <a:ln w="12700">
            <a:solidFill>
              <a:srgbClr val="2B3A4C"/>
            </a:solidFill>
            <a:prstDash val="solid"/>
          </a:ln>
        </p:spPr>
      </p:sp>
      <p:sp>
        <p:nvSpPr>
          <p:cNvPr id="38" name="Text 36"/>
          <p:cNvSpPr txBox="1"/>
          <p:nvPr/>
        </p:nvSpPr>
        <p:spPr>
          <a:xfrm>
            <a:off x="7927848" y="4114800"/>
            <a:ext cx="3566160" cy="256032"/>
          </a:xfrm>
          <a:prstGeom prst="rect">
            <a:avLst/>
          </a:prstGeom>
          <a:noFill/>
          <a:ln/>
        </p:spPr>
        <p:txBody>
          <a:bodyPr wrap="square" lIns="0" tIns="0" rIns="0" bIns="0" rtlCol="0" anchor="ctr"/>
          <a:lstStyle/>
          <a:p>
            <a:pPr indent="0" marL="0">
              <a:buNone/>
            </a:pPr>
            <a:r>
              <a:rPr lang="en-US" sz="1150" b="1" dirty="0">
                <a:solidFill>
                  <a:srgbClr val="E9EFF6"/>
                </a:solidFill>
                <a:latin typeface="Calibri" pitchFamily="34" charset="0"/>
                <a:ea typeface="Calibri" pitchFamily="34" charset="-122"/>
                <a:cs typeface="Calibri" pitchFamily="34" charset="-120"/>
              </a:rPr>
              <a:t>Outputs</a:t>
            </a:r>
            <a:endParaRPr lang="en-US" sz="1150" dirty="0"/>
          </a:p>
        </p:txBody>
      </p:sp>
      <p:sp>
        <p:nvSpPr>
          <p:cNvPr id="39" name="Text 37"/>
          <p:cNvSpPr txBox="1"/>
          <p:nvPr/>
        </p:nvSpPr>
        <p:spPr>
          <a:xfrm>
            <a:off x="7927848" y="4425696"/>
            <a:ext cx="3566160" cy="932688"/>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93A4B8"/>
                </a:solidFill>
                <a:latin typeface="Calibri" pitchFamily="34" charset="0"/>
                <a:ea typeface="Calibri" pitchFamily="34" charset="-122"/>
                <a:cs typeface="Calibri" pitchFamily="34" charset="-120"/>
              </a:rPr>
              <a:t>Findings with the config lines as evidence</a:t>
            </a:r>
            <a:endParaRPr lang="en-US" sz="1050" dirty="0"/>
          </a:p>
          <a:p>
            <a:pPr marL="342900" indent="-342900">
              <a:spcAft>
                <a:spcPts val="500"/>
              </a:spcAft>
              <a:buSzPct val="100000"/>
              <a:buChar char="•"/>
            </a:pPr>
            <a:r>
              <a:rPr lang="en-US" sz="1050" dirty="0">
                <a:solidFill>
                  <a:srgbClr val="93A4B8"/>
                </a:solidFill>
                <a:latin typeface="Calibri" pitchFamily="34" charset="0"/>
                <a:ea typeface="Calibri" pitchFamily="34" charset="-122"/>
                <a:cs typeface="Calibri" pitchFamily="34" charset="-120"/>
              </a:rPr>
              <a:t>Curated per-vendor remediation CLI</a:t>
            </a:r>
            <a:endParaRPr lang="en-US" sz="1050" dirty="0"/>
          </a:p>
          <a:p>
            <a:pPr marL="342900" indent="-342900">
              <a:spcAft>
                <a:spcPts val="500"/>
              </a:spcAft>
              <a:buSzPct val="100000"/>
              <a:buChar char="•"/>
            </a:pPr>
            <a:r>
              <a:rPr lang="en-US" sz="1050" dirty="0">
                <a:solidFill>
                  <a:srgbClr val="93A4B8"/>
                </a:solidFill>
                <a:latin typeface="Calibri" pitchFamily="34" charset="0"/>
                <a:ea typeface="Calibri" pitchFamily="34" charset="-122"/>
                <a:cs typeface="Calibri" pitchFamily="34" charset="-120"/>
              </a:rPr>
              <a:t>Per-device PDF, bulk zip, credentials masked</a:t>
            </a:r>
            <a:endParaRPr lang="en-US" sz="1050" dirty="0"/>
          </a:p>
        </p:txBody>
      </p:sp>
      <p:sp>
        <p:nvSpPr>
          <p:cNvPr id="40" name="Text 38"/>
          <p:cNvSpPr txBox="1"/>
          <p:nvPr/>
        </p:nvSpPr>
        <p:spPr>
          <a:xfrm>
            <a:off x="566928" y="5650992"/>
            <a:ext cx="11055096" cy="274320"/>
          </a:xfrm>
          <a:prstGeom prst="rect">
            <a:avLst/>
          </a:prstGeom>
          <a:noFill/>
          <a:ln/>
        </p:spPr>
        <p:txBody>
          <a:bodyPr wrap="square" lIns="0" tIns="0" rIns="0" bIns="0" rtlCol="0" anchor="ctr"/>
          <a:lstStyle/>
          <a:p>
            <a:pPr indent="0" marL="0">
              <a:buNone/>
            </a:pPr>
            <a:r>
              <a:rPr lang="en-US" sz="1000" dirty="0">
                <a:solidFill>
                  <a:srgbClr val="64768C"/>
                </a:solidFill>
                <a:latin typeface="Calibri" pitchFamily="34" charset="0"/>
                <a:ea typeface="Calibri" pitchFamily="34" charset="-122"/>
                <a:cs typeface="Calibri" pitchFamily="34" charset="-120"/>
              </a:rPr>
              <a:t>React + Vite  ·  FastAPI + Pydantic  ·  SQLite  ·  ReportLab  ·  bge-small ONNX (no torch)  ·  any OpenAI-compatible endpoint  ·  Netmiko (optional)</a:t>
            </a:r>
            <a:endParaRPr lang="en-US" sz="1000" dirty="0"/>
          </a:p>
        </p:txBody>
      </p:sp>
      <p:sp>
        <p:nvSpPr>
          <p:cNvPr id="42" name="Text 39"/>
          <p:cNvSpPr txBox="1"/>
          <p:nvPr/>
        </p:nvSpPr>
        <p:spPr>
          <a:xfrm>
            <a:off x="566928" y="6327648"/>
            <a:ext cx="6400800" cy="256032"/>
          </a:xfrm>
          <a:prstGeom prst="rect">
            <a:avLst/>
          </a:prstGeom>
          <a:noFill/>
          <a:ln/>
        </p:spPr>
        <p:txBody>
          <a:bodyPr wrap="square" lIns="0" tIns="0" rIns="0" bIns="0" rtlCol="0" anchor="ctr"/>
          <a:lstStyle/>
          <a:p>
            <a:pPr indent="0" marL="0">
              <a:buNone/>
            </a:pPr>
            <a:r>
              <a:rPr lang="en-US" sz="900" dirty="0">
                <a:solidFill>
                  <a:srgbClr val="64768C"/>
                </a:solidFill>
                <a:latin typeface="Calibri" pitchFamily="34" charset="0"/>
                <a:ea typeface="Calibri" pitchFamily="34" charset="-122"/>
                <a:cs typeface="Calibri" pitchFamily="34" charset="-120"/>
              </a:rPr>
              <a:t>NetBaseline AI  ·  SIH 2026  ·  PS 26155  ·  NTRO</a:t>
            </a:r>
            <a:endParaRPr lang="en-US" sz="900" dirty="0"/>
          </a:p>
        </p:txBody>
      </p:sp>
      <p:sp>
        <p:nvSpPr>
          <p:cNvPr id="43" name="Text 40"/>
          <p:cNvSpPr txBox="1"/>
          <p:nvPr/>
        </p:nvSpPr>
        <p:spPr>
          <a:xfrm>
            <a:off x="11073384" y="6327648"/>
            <a:ext cx="548640" cy="256032"/>
          </a:xfrm>
          <a:prstGeom prst="rect">
            <a:avLst/>
          </a:prstGeom>
          <a:noFill/>
          <a:ln/>
        </p:spPr>
        <p:txBody>
          <a:bodyPr wrap="square" lIns="0" tIns="0" rIns="0" bIns="0" rtlCol="0" anchor="ctr"/>
          <a:lstStyle/>
          <a:p>
            <a:pPr algn="r" indent="0" marL="0">
              <a:buNone/>
            </a:pPr>
            <a:r>
              <a:rPr lang="en-US" sz="900" dirty="0">
                <a:solidFill>
                  <a:srgbClr val="64768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52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621792"/>
          </a:xfrm>
          <a:prstGeom prst="rect">
            <a:avLst/>
          </a:prstGeom>
          <a:noFill/>
          <a:ln/>
        </p:spPr>
        <p:txBody>
          <a:bodyPr wrap="square" lIns="0" tIns="0" rIns="0" bIns="0" rtlCol="0" anchor="ctr"/>
          <a:lstStyle/>
          <a:p>
            <a:pPr indent="0" marL="0">
              <a:buNone/>
            </a:pPr>
            <a:r>
              <a:rPr lang="en-US" sz="3400" b="1" dirty="0">
                <a:solidFill>
                  <a:srgbClr val="E9EFF6"/>
                </a:solidFill>
                <a:latin typeface="Cambria" pitchFamily="34" charset="0"/>
                <a:ea typeface="Cambria" pitchFamily="34" charset="-122"/>
                <a:cs typeface="Cambria" pitchFamily="34" charset="-120"/>
              </a:rPr>
              <a:t>It learns a command shape, not a string</a:t>
            </a:r>
            <a:endParaRPr lang="en-US" sz="3400" dirty="0"/>
          </a:p>
        </p:txBody>
      </p:sp>
      <p:sp>
        <p:nvSpPr>
          <p:cNvPr id="3" name="Text 1"/>
          <p:cNvSpPr txBox="1"/>
          <p:nvPr/>
        </p:nvSpPr>
        <p:spPr>
          <a:xfrm>
            <a:off x="566928" y="1024128"/>
            <a:ext cx="11055096" cy="329184"/>
          </a:xfrm>
          <a:prstGeom prst="rect">
            <a:avLst/>
          </a:prstGeom>
          <a:noFill/>
          <a:ln/>
        </p:spPr>
        <p:txBody>
          <a:bodyPr wrap="square" lIns="0" tIns="0" rIns="0" bIns="0" rtlCol="0" anchor="ctr"/>
          <a:lstStyle/>
          <a:p>
            <a:pPr indent="0" marL="0">
              <a:buNone/>
            </a:pPr>
            <a:r>
              <a:rPr lang="en-US" sz="1400" dirty="0">
                <a:solidFill>
                  <a:srgbClr val="93A4B8"/>
                </a:solidFill>
                <a:latin typeface="Calibri" pitchFamily="34" charset="0"/>
                <a:ea typeface="Calibri" pitchFamily="34" charset="-122"/>
                <a:cs typeface="Calibri" pitchFamily="34" charset="-120"/>
              </a:rPr>
              <a:t>Teaching one command teaches every variant of it — which is what makes a single approval durable.</a:t>
            </a:r>
            <a:endParaRPr lang="en-US" sz="1400" dirty="0"/>
          </a:p>
        </p:txBody>
      </p:sp>
      <p:sp>
        <p:nvSpPr>
          <p:cNvPr id="4" name="Shape 2"/>
          <p:cNvSpPr/>
          <p:nvPr/>
        </p:nvSpPr>
        <p:spPr>
          <a:xfrm>
            <a:off x="566928" y="1609344"/>
            <a:ext cx="6583680" cy="2286000"/>
          </a:xfrm>
          <a:prstGeom prst="roundRect">
            <a:avLst>
              <a:gd name="adj" fmla="val 2400"/>
            </a:avLst>
          </a:prstGeom>
          <a:solidFill>
            <a:srgbClr val="18222E"/>
          </a:solidFill>
          <a:ln w="12700">
            <a:solidFill>
              <a:srgbClr val="2B3A4C"/>
            </a:solidFill>
            <a:prstDash val="solid"/>
          </a:ln>
        </p:spPr>
      </p:sp>
      <p:sp>
        <p:nvSpPr>
          <p:cNvPr id="5" name="Text 3"/>
          <p:cNvSpPr txBox="1"/>
          <p:nvPr/>
        </p:nvSpPr>
        <p:spPr>
          <a:xfrm>
            <a:off x="786384" y="1773936"/>
            <a:ext cx="6126480" cy="274320"/>
          </a:xfrm>
          <a:prstGeom prst="rect">
            <a:avLst/>
          </a:prstGeom>
          <a:noFill/>
          <a:ln/>
        </p:spPr>
        <p:txBody>
          <a:bodyPr wrap="square" lIns="0" tIns="0" rIns="0" bIns="0" rtlCol="0" anchor="ctr"/>
          <a:lstStyle/>
          <a:p>
            <a:pPr indent="0" marL="0">
              <a:buNone/>
            </a:pPr>
            <a:r>
              <a:rPr lang="en-US" sz="1150" b="1" dirty="0">
                <a:solidFill>
                  <a:srgbClr val="4C9AFF"/>
                </a:solidFill>
                <a:latin typeface="Calibri" pitchFamily="34" charset="0"/>
                <a:ea typeface="Calibri" pitchFamily="34" charset="-122"/>
                <a:cs typeface="Calibri" pitchFamily="34" charset="-120"/>
              </a:rPr>
              <a:t>Administrator teaches once</a:t>
            </a:r>
            <a:endParaRPr lang="en-US" sz="1150" dirty="0"/>
          </a:p>
        </p:txBody>
      </p:sp>
      <p:sp>
        <p:nvSpPr>
          <p:cNvPr id="6" name="Text 4"/>
          <p:cNvSpPr txBox="1"/>
          <p:nvPr/>
        </p:nvSpPr>
        <p:spPr>
          <a:xfrm>
            <a:off x="786384" y="2121408"/>
            <a:ext cx="6126480" cy="292608"/>
          </a:xfrm>
          <a:prstGeom prst="rect">
            <a:avLst/>
          </a:prstGeom>
          <a:noFill/>
          <a:ln/>
        </p:spPr>
        <p:txBody>
          <a:bodyPr wrap="square" lIns="0" tIns="0" rIns="0" bIns="0" rtlCol="0" anchor="ctr"/>
          <a:lstStyle/>
          <a:p>
            <a:pPr indent="0" marL="0">
              <a:buNone/>
            </a:pPr>
            <a:r>
              <a:rPr lang="en-US" sz="1100" dirty="0">
                <a:solidFill>
                  <a:srgbClr val="E9EFF6"/>
                </a:solidFill>
                <a:latin typeface="Consolas" pitchFamily="34" charset="0"/>
                <a:ea typeface="Consolas" pitchFamily="34" charset="-122"/>
                <a:cs typeface="Consolas" pitchFamily="34" charset="-120"/>
              </a:rPr>
              <a:t>/ip service set telnet disabled=no port=23</a:t>
            </a:r>
            <a:endParaRPr lang="en-US" sz="1100" dirty="0"/>
          </a:p>
        </p:txBody>
      </p:sp>
      <p:sp>
        <p:nvSpPr>
          <p:cNvPr id="7" name="Text 5"/>
          <p:cNvSpPr txBox="1"/>
          <p:nvPr/>
        </p:nvSpPr>
        <p:spPr>
          <a:xfrm>
            <a:off x="786384" y="2450592"/>
            <a:ext cx="6126480" cy="292608"/>
          </a:xfrm>
          <a:prstGeom prst="rect">
            <a:avLst/>
          </a:prstGeom>
          <a:noFill/>
          <a:ln/>
        </p:spPr>
        <p:txBody>
          <a:bodyPr wrap="square" lIns="0" tIns="0" rIns="0" bIns="0" rtlCol="0" anchor="ctr"/>
          <a:lstStyle/>
          <a:p>
            <a:pPr indent="0" marL="0">
              <a:buNone/>
            </a:pPr>
            <a:r>
              <a:rPr lang="en-US" sz="1000" dirty="0">
                <a:solidFill>
                  <a:srgbClr val="64768C"/>
                </a:solidFill>
                <a:latin typeface="Calibri" pitchFamily="34" charset="0"/>
                <a:ea typeface="Calibri" pitchFamily="34" charset="-122"/>
                <a:cs typeface="Calibri" pitchFamily="34" charset="-120"/>
              </a:rPr>
              <a:t>canonicalised to a template with typed slots</a:t>
            </a:r>
            <a:endParaRPr lang="en-US" sz="1000" dirty="0"/>
          </a:p>
        </p:txBody>
      </p:sp>
      <p:sp>
        <p:nvSpPr>
          <p:cNvPr id="8" name="Text 6"/>
          <p:cNvSpPr txBox="1"/>
          <p:nvPr/>
        </p:nvSpPr>
        <p:spPr>
          <a:xfrm>
            <a:off x="786384" y="2779776"/>
            <a:ext cx="6126480" cy="292608"/>
          </a:xfrm>
          <a:prstGeom prst="rect">
            <a:avLst/>
          </a:prstGeom>
          <a:noFill/>
          <a:ln/>
        </p:spPr>
        <p:txBody>
          <a:bodyPr wrap="square" lIns="0" tIns="0" rIns="0" bIns="0" rtlCol="0" anchor="ctr"/>
          <a:lstStyle/>
          <a:p>
            <a:pPr indent="0" marL="0">
              <a:buNone/>
            </a:pPr>
            <a:r>
              <a:rPr lang="en-US" sz="1100" dirty="0">
                <a:solidFill>
                  <a:srgbClr val="35D0A5"/>
                </a:solidFill>
                <a:latin typeface="Consolas" pitchFamily="34" charset="0"/>
                <a:ea typeface="Consolas" pitchFamily="34" charset="-122"/>
                <a:cs typeface="Consolas" pitchFamily="34" charset="-120"/>
              </a:rPr>
              <a:t>/ip service set telnet disabled=no port=&lt;NUM&gt;</a:t>
            </a:r>
            <a:endParaRPr lang="en-US" sz="1100" dirty="0"/>
          </a:p>
        </p:txBody>
      </p:sp>
      <p:sp>
        <p:nvSpPr>
          <p:cNvPr id="9" name="Text 7"/>
          <p:cNvSpPr txBox="1"/>
          <p:nvPr/>
        </p:nvSpPr>
        <p:spPr>
          <a:xfrm>
            <a:off x="786384" y="3108960"/>
            <a:ext cx="6126480" cy="292608"/>
          </a:xfrm>
          <a:prstGeom prst="rect">
            <a:avLst/>
          </a:prstGeom>
          <a:noFill/>
          <a:ln/>
        </p:spPr>
        <p:txBody>
          <a:bodyPr wrap="square" lIns="0" tIns="0" rIns="0" bIns="0" rtlCol="0" anchor="ctr"/>
          <a:lstStyle/>
          <a:p>
            <a:pPr indent="0" marL="0">
              <a:buNone/>
            </a:pPr>
            <a:r>
              <a:rPr lang="en-US" sz="1000" dirty="0">
                <a:solidFill>
                  <a:srgbClr val="64768C"/>
                </a:solidFill>
                <a:latin typeface="Calibri" pitchFamily="34" charset="0"/>
                <a:ea typeface="Calibri" pitchFamily="34" charset="-122"/>
                <a:cs typeface="Calibri" pitchFamily="34" charset="-120"/>
              </a:rPr>
              <a:t>so this, never seen before, is also understood</a:t>
            </a:r>
            <a:endParaRPr lang="en-US" sz="1000" dirty="0"/>
          </a:p>
        </p:txBody>
      </p:sp>
      <p:sp>
        <p:nvSpPr>
          <p:cNvPr id="10" name="Text 8"/>
          <p:cNvSpPr txBox="1"/>
          <p:nvPr/>
        </p:nvSpPr>
        <p:spPr>
          <a:xfrm>
            <a:off x="786384" y="3438144"/>
            <a:ext cx="6126480" cy="292608"/>
          </a:xfrm>
          <a:prstGeom prst="rect">
            <a:avLst/>
          </a:prstGeom>
          <a:noFill/>
          <a:ln/>
        </p:spPr>
        <p:txBody>
          <a:bodyPr wrap="square" lIns="0" tIns="0" rIns="0" bIns="0" rtlCol="0" anchor="ctr"/>
          <a:lstStyle/>
          <a:p>
            <a:pPr indent="0" marL="0">
              <a:buNone/>
            </a:pPr>
            <a:r>
              <a:rPr lang="en-US" sz="1100" dirty="0">
                <a:solidFill>
                  <a:srgbClr val="35D0A5"/>
                </a:solidFill>
                <a:latin typeface="Consolas" pitchFamily="34" charset="0"/>
                <a:ea typeface="Consolas" pitchFamily="34" charset="-122"/>
                <a:cs typeface="Consolas" pitchFamily="34" charset="-120"/>
              </a:rPr>
              <a:t>/ip service set telnet disabled=no port=2323</a:t>
            </a:r>
            <a:endParaRPr lang="en-US" sz="1100" dirty="0"/>
          </a:p>
        </p:txBody>
      </p:sp>
      <p:sp>
        <p:nvSpPr>
          <p:cNvPr id="11" name="Shape 9"/>
          <p:cNvSpPr/>
          <p:nvPr/>
        </p:nvSpPr>
        <p:spPr>
          <a:xfrm>
            <a:off x="7470648" y="1609344"/>
            <a:ext cx="4151376" cy="2286000"/>
          </a:xfrm>
          <a:prstGeom prst="roundRect">
            <a:avLst>
              <a:gd name="adj" fmla="val 2400"/>
            </a:avLst>
          </a:prstGeom>
          <a:solidFill>
            <a:srgbClr val="212D3B"/>
          </a:solidFill>
          <a:ln w="12700">
            <a:solidFill>
              <a:srgbClr val="FFA23C"/>
            </a:solidFill>
            <a:prstDash val="solid"/>
          </a:ln>
        </p:spPr>
      </p:sp>
      <p:sp>
        <p:nvSpPr>
          <p:cNvPr id="12" name="Text 10"/>
          <p:cNvSpPr txBox="1"/>
          <p:nvPr/>
        </p:nvSpPr>
        <p:spPr>
          <a:xfrm>
            <a:off x="7690104" y="1773936"/>
            <a:ext cx="3749040" cy="274320"/>
          </a:xfrm>
          <a:prstGeom prst="rect">
            <a:avLst/>
          </a:prstGeom>
          <a:noFill/>
          <a:ln/>
        </p:spPr>
        <p:txBody>
          <a:bodyPr wrap="square" lIns="0" tIns="0" rIns="0" bIns="0" rtlCol="0" anchor="ctr"/>
          <a:lstStyle/>
          <a:p>
            <a:pPr indent="0" marL="0">
              <a:buNone/>
            </a:pPr>
            <a:r>
              <a:rPr lang="en-US" sz="1150" b="1" dirty="0">
                <a:solidFill>
                  <a:srgbClr val="FFA23C"/>
                </a:solidFill>
                <a:latin typeface="Calibri" pitchFamily="34" charset="0"/>
                <a:ea typeface="Calibri" pitchFamily="34" charset="-122"/>
                <a:cs typeface="Calibri" pitchFamily="34" charset="-120"/>
              </a:rPr>
              <a:t>Why not just embed and search?</a:t>
            </a:r>
            <a:endParaRPr lang="en-US" sz="1150" dirty="0"/>
          </a:p>
        </p:txBody>
      </p:sp>
      <p:sp>
        <p:nvSpPr>
          <p:cNvPr id="13" name="Text 11"/>
          <p:cNvSpPr txBox="1"/>
          <p:nvPr/>
        </p:nvSpPr>
        <p:spPr>
          <a:xfrm>
            <a:off x="7690104" y="2084832"/>
            <a:ext cx="3749040" cy="256032"/>
          </a:xfrm>
          <a:prstGeom prst="rect">
            <a:avLst/>
          </a:prstGeom>
          <a:noFill/>
          <a:ln/>
        </p:spPr>
        <p:txBody>
          <a:bodyPr wrap="square" lIns="0" tIns="0" rIns="0" bIns="0" rtlCol="0" anchor="ctr"/>
          <a:lstStyle/>
          <a:p>
            <a:pPr indent="0" marL="0">
              <a:buNone/>
            </a:pPr>
            <a:r>
              <a:rPr lang="en-US" sz="1050" i="1" dirty="0">
                <a:solidFill>
                  <a:srgbClr val="93A4B8"/>
                </a:solidFill>
                <a:latin typeface="Calibri" pitchFamily="34" charset="0"/>
                <a:ea typeface="Calibri" pitchFamily="34" charset="-122"/>
                <a:cs typeface="Calibri" pitchFamily="34" charset="-120"/>
              </a:rPr>
              <a:t>We measured it.</a:t>
            </a:r>
            <a:endParaRPr lang="en-US" sz="1050" dirty="0"/>
          </a:p>
        </p:txBody>
      </p:sp>
      <p:sp>
        <p:nvSpPr>
          <p:cNvPr id="14" name="Text 12"/>
          <p:cNvSpPr txBox="1"/>
          <p:nvPr/>
        </p:nvSpPr>
        <p:spPr>
          <a:xfrm>
            <a:off x="7690104" y="2377440"/>
            <a:ext cx="3749040" cy="566928"/>
          </a:xfrm>
          <a:prstGeom prst="rect">
            <a:avLst/>
          </a:prstGeom>
          <a:noFill/>
          <a:ln/>
        </p:spPr>
        <p:txBody>
          <a:bodyPr wrap="square" lIns="0" tIns="0" rIns="0" bIns="0" rtlCol="0" anchor="ctr"/>
          <a:lstStyle/>
          <a:p>
            <a:pPr indent="0" marL="0">
              <a:buNone/>
            </a:pPr>
            <a:r>
              <a:rPr lang="en-US" sz="4000" b="1" dirty="0">
                <a:solidFill>
                  <a:srgbClr val="FF5A5F"/>
                </a:solidFill>
                <a:latin typeface="Cambria" pitchFamily="34" charset="0"/>
                <a:ea typeface="Cambria" pitchFamily="34" charset="-122"/>
                <a:cs typeface="Cambria" pitchFamily="34" charset="-120"/>
              </a:rPr>
              <a:t>~50%</a:t>
            </a:r>
            <a:endParaRPr lang="en-US" sz="4000" dirty="0"/>
          </a:p>
        </p:txBody>
      </p:sp>
      <p:sp>
        <p:nvSpPr>
          <p:cNvPr id="15" name="Text 13"/>
          <p:cNvSpPr txBox="1"/>
          <p:nvPr/>
        </p:nvSpPr>
        <p:spPr>
          <a:xfrm>
            <a:off x="7690104" y="2980944"/>
            <a:ext cx="3749040" cy="786384"/>
          </a:xfrm>
          <a:prstGeom prst="rect">
            <a:avLst/>
          </a:prstGeom>
          <a:noFill/>
          <a:ln/>
        </p:spPr>
        <p:txBody>
          <a:bodyPr wrap="square" lIns="0" tIns="0" rIns="0" bIns="0" rtlCol="0" anchor="ctr"/>
          <a:lstStyle/>
          <a:p>
            <a:pPr indent="0" marL="0">
              <a:buNone/>
            </a:pPr>
            <a:r>
              <a:rPr lang="en-US" sz="1000" dirty="0">
                <a:solidFill>
                  <a:srgbClr val="93A4B8"/>
                </a:solidFill>
                <a:latin typeface="Calibri" pitchFamily="34" charset="0"/>
                <a:ea typeface="Calibri" pitchFamily="34" charset="-122"/>
                <a:cs typeface="Calibri" pitchFamily="34" charset="-120"/>
              </a:rPr>
              <a:t>retrieval accuracy on held-out cross-vendor commands. Correct and incorrect neighbours both scored 0.74–0.80, so similarity on CLI text is not separable enough to trust.</a:t>
            </a:r>
            <a:endParaRPr lang="en-US" sz="1000" dirty="0"/>
          </a:p>
        </p:txBody>
      </p:sp>
      <p:sp>
        <p:nvSpPr>
          <p:cNvPr id="16" name="Shape 14"/>
          <p:cNvSpPr/>
          <p:nvPr/>
        </p:nvSpPr>
        <p:spPr>
          <a:xfrm>
            <a:off x="566928" y="4114800"/>
            <a:ext cx="3493008" cy="1060704"/>
          </a:xfrm>
          <a:prstGeom prst="roundRect">
            <a:avLst>
              <a:gd name="adj" fmla="val 5172"/>
            </a:avLst>
          </a:prstGeom>
          <a:solidFill>
            <a:srgbClr val="18222E"/>
          </a:solidFill>
          <a:ln w="12700">
            <a:solidFill>
              <a:srgbClr val="2B3A4C"/>
            </a:solidFill>
            <a:prstDash val="solid"/>
          </a:ln>
        </p:spPr>
      </p:sp>
      <p:sp>
        <p:nvSpPr>
          <p:cNvPr id="17" name="Text 15"/>
          <p:cNvSpPr txBox="1"/>
          <p:nvPr/>
        </p:nvSpPr>
        <p:spPr>
          <a:xfrm>
            <a:off x="768096" y="4261104"/>
            <a:ext cx="3108960" cy="274320"/>
          </a:xfrm>
          <a:prstGeom prst="rect">
            <a:avLst/>
          </a:prstGeom>
          <a:noFill/>
          <a:ln/>
        </p:spPr>
        <p:txBody>
          <a:bodyPr wrap="square" lIns="0" tIns="0" rIns="0" bIns="0" rtlCol="0" anchor="ctr"/>
          <a:lstStyle/>
          <a:p>
            <a:pPr indent="0" marL="0">
              <a:buNone/>
            </a:pPr>
            <a:r>
              <a:rPr lang="en-US" sz="1200" b="1" dirty="0">
                <a:solidFill>
                  <a:srgbClr val="64768C"/>
                </a:solidFill>
                <a:latin typeface="Calibri" pitchFamily="34" charset="0"/>
                <a:ea typeface="Calibri" pitchFamily="34" charset="-122"/>
                <a:cs typeface="Calibri" pitchFamily="34" charset="-120"/>
              </a:rPr>
              <a:t>Retrieval</a:t>
            </a:r>
            <a:endParaRPr lang="en-US" sz="1200" dirty="0"/>
          </a:p>
        </p:txBody>
      </p:sp>
      <p:sp>
        <p:nvSpPr>
          <p:cNvPr id="18" name="Text 16"/>
          <p:cNvSpPr txBox="1"/>
          <p:nvPr/>
        </p:nvSpPr>
        <p:spPr>
          <a:xfrm>
            <a:off x="768096" y="4553712"/>
            <a:ext cx="3108960" cy="512064"/>
          </a:xfrm>
          <a:prstGeom prst="rect">
            <a:avLst/>
          </a:prstGeom>
          <a:noFill/>
          <a:ln/>
        </p:spPr>
        <p:txBody>
          <a:bodyPr wrap="square" lIns="0" tIns="0" rIns="0" bIns="0" rtlCol="0" anchor="ctr"/>
          <a:lstStyle/>
          <a:p>
            <a:pPr indent="0" marL="0">
              <a:buNone/>
            </a:pPr>
            <a:r>
              <a:rPr lang="en-US" sz="1050" dirty="0">
                <a:solidFill>
                  <a:srgbClr val="93A4B8"/>
                </a:solidFill>
                <a:latin typeface="Calibri" pitchFamily="34" charset="0"/>
                <a:ea typeface="Calibri" pitchFamily="34" charset="-122"/>
                <a:cs typeface="Calibri" pitchFamily="34" charset="-120"/>
              </a:rPr>
              <a:t>supplies precedent to the model — never decides</a:t>
            </a:r>
            <a:endParaRPr lang="en-US" sz="1050" dirty="0"/>
          </a:p>
        </p:txBody>
      </p:sp>
      <p:sp>
        <p:nvSpPr>
          <p:cNvPr id="19" name="Shape 17"/>
          <p:cNvSpPr/>
          <p:nvPr/>
        </p:nvSpPr>
        <p:spPr>
          <a:xfrm>
            <a:off x="4279392" y="4114800"/>
            <a:ext cx="3493008" cy="1060704"/>
          </a:xfrm>
          <a:prstGeom prst="roundRect">
            <a:avLst>
              <a:gd name="adj" fmla="val 5172"/>
            </a:avLst>
          </a:prstGeom>
          <a:solidFill>
            <a:srgbClr val="18222E"/>
          </a:solidFill>
          <a:ln w="12700">
            <a:solidFill>
              <a:srgbClr val="2B3A4C"/>
            </a:solidFill>
            <a:prstDash val="solid"/>
          </a:ln>
        </p:spPr>
      </p:sp>
      <p:sp>
        <p:nvSpPr>
          <p:cNvPr id="20" name="Text 18"/>
          <p:cNvSpPr txBox="1"/>
          <p:nvPr/>
        </p:nvSpPr>
        <p:spPr>
          <a:xfrm>
            <a:off x="4480560" y="4261104"/>
            <a:ext cx="3108960" cy="274320"/>
          </a:xfrm>
          <a:prstGeom prst="rect">
            <a:avLst/>
          </a:prstGeom>
          <a:noFill/>
          <a:ln/>
        </p:spPr>
        <p:txBody>
          <a:bodyPr wrap="square" lIns="0" tIns="0" rIns="0" bIns="0" rtlCol="0" anchor="ctr"/>
          <a:lstStyle/>
          <a:p>
            <a:pPr indent="0" marL="0">
              <a:buNone/>
            </a:pPr>
            <a:r>
              <a:rPr lang="en-US" sz="1200" b="1" dirty="0">
                <a:solidFill>
                  <a:srgbClr val="4C9AFF"/>
                </a:solidFill>
                <a:latin typeface="Calibri" pitchFamily="34" charset="0"/>
                <a:ea typeface="Calibri" pitchFamily="34" charset="-122"/>
                <a:cs typeface="Calibri" pitchFamily="34" charset="-120"/>
              </a:rPr>
              <a:t>The LLM</a:t>
            </a:r>
            <a:endParaRPr lang="en-US" sz="1200" dirty="0"/>
          </a:p>
        </p:txBody>
      </p:sp>
      <p:sp>
        <p:nvSpPr>
          <p:cNvPr id="21" name="Text 19"/>
          <p:cNvSpPr txBox="1"/>
          <p:nvPr/>
        </p:nvSpPr>
        <p:spPr>
          <a:xfrm>
            <a:off x="4480560" y="4553712"/>
            <a:ext cx="3108960" cy="512064"/>
          </a:xfrm>
          <a:prstGeom prst="rect">
            <a:avLst/>
          </a:prstGeom>
          <a:noFill/>
          <a:ln/>
        </p:spPr>
        <p:txBody>
          <a:bodyPr wrap="square" lIns="0" tIns="0" rIns="0" bIns="0" rtlCol="0" anchor="ctr"/>
          <a:lstStyle/>
          <a:p>
            <a:pPr indent="0" marL="0">
              <a:buNone/>
            </a:pPr>
            <a:r>
              <a:rPr lang="en-US" sz="1050" dirty="0">
                <a:solidFill>
                  <a:srgbClr val="93A4B8"/>
                </a:solidFill>
                <a:latin typeface="Calibri" pitchFamily="34" charset="0"/>
                <a:ea typeface="Calibri" pitchFamily="34" charset="-122"/>
                <a:cs typeface="Calibri" pitchFamily="34" charset="-120"/>
              </a:rPr>
              <a:t>is load-bearing, not decoration</a:t>
            </a:r>
            <a:endParaRPr lang="en-US" sz="1050" dirty="0"/>
          </a:p>
        </p:txBody>
      </p:sp>
      <p:sp>
        <p:nvSpPr>
          <p:cNvPr id="22" name="Shape 20"/>
          <p:cNvSpPr/>
          <p:nvPr/>
        </p:nvSpPr>
        <p:spPr>
          <a:xfrm>
            <a:off x="7991856" y="4114800"/>
            <a:ext cx="3493008" cy="1060704"/>
          </a:xfrm>
          <a:prstGeom prst="roundRect">
            <a:avLst>
              <a:gd name="adj" fmla="val 5172"/>
            </a:avLst>
          </a:prstGeom>
          <a:solidFill>
            <a:srgbClr val="18222E"/>
          </a:solidFill>
          <a:ln w="12700">
            <a:solidFill>
              <a:srgbClr val="2B3A4C"/>
            </a:solidFill>
            <a:prstDash val="solid"/>
          </a:ln>
        </p:spPr>
      </p:sp>
      <p:sp>
        <p:nvSpPr>
          <p:cNvPr id="23" name="Text 21"/>
          <p:cNvSpPr txBox="1"/>
          <p:nvPr/>
        </p:nvSpPr>
        <p:spPr>
          <a:xfrm>
            <a:off x="8193024" y="4261104"/>
            <a:ext cx="3108960" cy="274320"/>
          </a:xfrm>
          <a:prstGeom prst="rect">
            <a:avLst/>
          </a:prstGeom>
          <a:noFill/>
          <a:ln/>
        </p:spPr>
        <p:txBody>
          <a:bodyPr wrap="square" lIns="0" tIns="0" rIns="0" bIns="0" rtlCol="0" anchor="ctr"/>
          <a:lstStyle/>
          <a:p>
            <a:pPr indent="0" marL="0">
              <a:buNone/>
            </a:pPr>
            <a:r>
              <a:rPr lang="en-US" sz="1200" b="1" dirty="0">
                <a:solidFill>
                  <a:srgbClr val="35D0A5"/>
                </a:solidFill>
                <a:latin typeface="Calibri" pitchFamily="34" charset="0"/>
                <a:ea typeface="Calibri" pitchFamily="34" charset="-122"/>
                <a:cs typeface="Calibri" pitchFamily="34" charset="-120"/>
              </a:rPr>
              <a:t>Taught commands</a:t>
            </a:r>
            <a:endParaRPr lang="en-US" sz="1200" dirty="0"/>
          </a:p>
        </p:txBody>
      </p:sp>
      <p:sp>
        <p:nvSpPr>
          <p:cNvPr id="24" name="Text 22"/>
          <p:cNvSpPr txBox="1"/>
          <p:nvPr/>
        </p:nvSpPr>
        <p:spPr>
          <a:xfrm>
            <a:off x="8193024" y="4553712"/>
            <a:ext cx="3108960" cy="512064"/>
          </a:xfrm>
          <a:prstGeom prst="rect">
            <a:avLst/>
          </a:prstGeom>
          <a:noFill/>
          <a:ln/>
        </p:spPr>
        <p:txBody>
          <a:bodyPr wrap="square" lIns="0" tIns="0" rIns="0" bIns="0" rtlCol="0" anchor="ctr"/>
          <a:lstStyle/>
          <a:p>
            <a:pPr indent="0" marL="0">
              <a:buNone/>
            </a:pPr>
            <a:r>
              <a:rPr lang="en-US" sz="1050" dirty="0">
                <a:solidFill>
                  <a:srgbClr val="93A4B8"/>
                </a:solidFill>
                <a:latin typeface="Calibri" pitchFamily="34" charset="0"/>
                <a:ea typeface="Calibri" pitchFamily="34" charset="-122"/>
                <a:cs typeface="Calibri" pitchFamily="34" charset="-120"/>
              </a:rPr>
              <a:t>resolve deterministically, with no model at all</a:t>
            </a:r>
            <a:endParaRPr lang="en-US" sz="1050" dirty="0"/>
          </a:p>
        </p:txBody>
      </p:sp>
      <p:sp>
        <p:nvSpPr>
          <p:cNvPr id="25" name="Text 23"/>
          <p:cNvSpPr txBox="1"/>
          <p:nvPr/>
        </p:nvSpPr>
        <p:spPr>
          <a:xfrm>
            <a:off x="566928" y="5431536"/>
            <a:ext cx="11055096" cy="365760"/>
          </a:xfrm>
          <a:prstGeom prst="rect">
            <a:avLst/>
          </a:prstGeom>
          <a:noFill/>
          <a:ln/>
        </p:spPr>
        <p:txBody>
          <a:bodyPr wrap="square" lIns="0" tIns="0" rIns="0" bIns="0" rtlCol="0" anchor="ctr"/>
          <a:lstStyle/>
          <a:p>
            <a:pPr indent="0" marL="0">
              <a:buNone/>
            </a:pPr>
            <a:r>
              <a:rPr lang="en-US" sz="1200" i="1" dirty="0">
                <a:solidFill>
                  <a:srgbClr val="4C9AFF"/>
                </a:solidFill>
                <a:latin typeface="Calibri" pitchFamily="34" charset="0"/>
                <a:ea typeface="Calibri" pitchFamily="34" charset="-122"/>
                <a:cs typeface="Calibri" pitchFamily="34" charset="-120"/>
              </a:rPr>
              <a:t>A mapping an administrator approves is written into the same rule pack, in the same shape, as one that shipped in the box — learned and built-in knowledge are the same object.</a:t>
            </a:r>
            <a:endParaRPr lang="en-US" sz="1200" dirty="0"/>
          </a:p>
        </p:txBody>
      </p:sp>
      <p:sp>
        <p:nvSpPr>
          <p:cNvPr id="27" name="Text 24"/>
          <p:cNvSpPr txBox="1"/>
          <p:nvPr/>
        </p:nvSpPr>
        <p:spPr>
          <a:xfrm>
            <a:off x="566928" y="6327648"/>
            <a:ext cx="6400800" cy="256032"/>
          </a:xfrm>
          <a:prstGeom prst="rect">
            <a:avLst/>
          </a:prstGeom>
          <a:noFill/>
          <a:ln/>
        </p:spPr>
        <p:txBody>
          <a:bodyPr wrap="square" lIns="0" tIns="0" rIns="0" bIns="0" rtlCol="0" anchor="ctr"/>
          <a:lstStyle/>
          <a:p>
            <a:pPr indent="0" marL="0">
              <a:buNone/>
            </a:pPr>
            <a:r>
              <a:rPr lang="en-US" sz="900" dirty="0">
                <a:solidFill>
                  <a:srgbClr val="64768C"/>
                </a:solidFill>
                <a:latin typeface="Calibri" pitchFamily="34" charset="0"/>
                <a:ea typeface="Calibri" pitchFamily="34" charset="-122"/>
                <a:cs typeface="Calibri" pitchFamily="34" charset="-120"/>
              </a:rPr>
              <a:t>NetBaseline AI  ·  SIH 2026  ·  PS 26155  ·  NTRO</a:t>
            </a:r>
            <a:endParaRPr lang="en-US" sz="900" dirty="0"/>
          </a:p>
        </p:txBody>
      </p:sp>
      <p:sp>
        <p:nvSpPr>
          <p:cNvPr id="28" name="Text 25"/>
          <p:cNvSpPr txBox="1"/>
          <p:nvPr/>
        </p:nvSpPr>
        <p:spPr>
          <a:xfrm>
            <a:off x="11073384" y="6327648"/>
            <a:ext cx="548640" cy="256032"/>
          </a:xfrm>
          <a:prstGeom prst="rect">
            <a:avLst/>
          </a:prstGeom>
          <a:noFill/>
          <a:ln/>
        </p:spPr>
        <p:txBody>
          <a:bodyPr wrap="square" lIns="0" tIns="0" rIns="0" bIns="0" rtlCol="0" anchor="ctr"/>
          <a:lstStyle/>
          <a:p>
            <a:pPr algn="r" indent="0" marL="0">
              <a:buNone/>
            </a:pPr>
            <a:r>
              <a:rPr lang="en-US" sz="900" dirty="0">
                <a:solidFill>
                  <a:srgbClr val="64768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52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621792"/>
          </a:xfrm>
          <a:prstGeom prst="rect">
            <a:avLst/>
          </a:prstGeom>
          <a:noFill/>
          <a:ln/>
        </p:spPr>
        <p:txBody>
          <a:bodyPr wrap="square" lIns="0" tIns="0" rIns="0" bIns="0" rtlCol="0" anchor="ctr"/>
          <a:lstStyle/>
          <a:p>
            <a:pPr indent="0" marL="0">
              <a:buNone/>
            </a:pPr>
            <a:r>
              <a:rPr lang="en-US" sz="3400" b="1" dirty="0">
                <a:solidFill>
                  <a:srgbClr val="E9EFF6"/>
                </a:solidFill>
                <a:latin typeface="Cambria" pitchFamily="34" charset="0"/>
                <a:ea typeface="Cambria" pitchFamily="34" charset="-122"/>
                <a:cs typeface="Cambria" pitchFamily="34" charset="-120"/>
              </a:rPr>
              <a:t>A model mistake cannot become a compliance result</a:t>
            </a:r>
            <a:endParaRPr lang="en-US" sz="3400" dirty="0"/>
          </a:p>
        </p:txBody>
      </p:sp>
      <p:sp>
        <p:nvSpPr>
          <p:cNvPr id="3" name="Text 1"/>
          <p:cNvSpPr txBox="1"/>
          <p:nvPr/>
        </p:nvSpPr>
        <p:spPr>
          <a:xfrm>
            <a:off x="566928" y="1024128"/>
            <a:ext cx="11055096" cy="329184"/>
          </a:xfrm>
          <a:prstGeom prst="rect">
            <a:avLst/>
          </a:prstGeom>
          <a:noFill/>
          <a:ln/>
        </p:spPr>
        <p:txBody>
          <a:bodyPr wrap="square" lIns="0" tIns="0" rIns="0" bIns="0" rtlCol="0" anchor="ctr"/>
          <a:lstStyle/>
          <a:p>
            <a:pPr indent="0" marL="0">
              <a:buNone/>
            </a:pPr>
            <a:r>
              <a:rPr lang="en-US" sz="1400" dirty="0">
                <a:solidFill>
                  <a:srgbClr val="93A4B8"/>
                </a:solidFill>
                <a:latin typeface="Calibri" pitchFamily="34" charset="0"/>
                <a:ea typeface="Calibri" pitchFamily="34" charset="-122"/>
                <a:cs typeface="Calibri" pitchFamily="34" charset="-120"/>
              </a:rPr>
              <a:t>This is a security tool, so the interesting question is what happens when a component is wrong.</a:t>
            </a:r>
            <a:endParaRPr lang="en-US" sz="1400" dirty="0"/>
          </a:p>
        </p:txBody>
      </p:sp>
      <p:sp>
        <p:nvSpPr>
          <p:cNvPr id="4" name="Shape 2"/>
          <p:cNvSpPr/>
          <p:nvPr/>
        </p:nvSpPr>
        <p:spPr>
          <a:xfrm>
            <a:off x="566928" y="1627632"/>
            <a:ext cx="3493008" cy="1810512"/>
          </a:xfrm>
          <a:prstGeom prst="roundRect">
            <a:avLst>
              <a:gd name="adj" fmla="val 3030"/>
            </a:avLst>
          </a:prstGeom>
          <a:solidFill>
            <a:srgbClr val="18222E"/>
          </a:solidFill>
          <a:ln w="12700">
            <a:solidFill>
              <a:srgbClr val="2B3A4C"/>
            </a:solidFill>
            <a:prstDash val="solid"/>
          </a:ln>
        </p:spPr>
      </p:sp>
      <p:sp>
        <p:nvSpPr>
          <p:cNvPr id="5" name="Text 3"/>
          <p:cNvSpPr txBox="1"/>
          <p:nvPr/>
        </p:nvSpPr>
        <p:spPr>
          <a:xfrm>
            <a:off x="768096" y="1792224"/>
            <a:ext cx="3108960" cy="274320"/>
          </a:xfrm>
          <a:prstGeom prst="rect">
            <a:avLst/>
          </a:prstGeom>
          <a:noFill/>
          <a:ln/>
        </p:spPr>
        <p:txBody>
          <a:bodyPr wrap="square" lIns="0" tIns="0" rIns="0" bIns="0" rtlCol="0" anchor="ctr"/>
          <a:lstStyle/>
          <a:p>
            <a:pPr indent="0" marL="0">
              <a:buNone/>
            </a:pPr>
            <a:r>
              <a:rPr lang="en-US" sz="1050" dirty="0">
                <a:solidFill>
                  <a:srgbClr val="64768C"/>
                </a:solidFill>
                <a:latin typeface="Calibri" pitchFamily="34" charset="0"/>
                <a:ea typeface="Calibri" pitchFamily="34" charset="-122"/>
                <a:cs typeface="Calibri" pitchFamily="34" charset="-120"/>
              </a:rPr>
              <a:t>AI proposal, unreviewed</a:t>
            </a:r>
            <a:endParaRPr lang="en-US" sz="1050" dirty="0"/>
          </a:p>
        </p:txBody>
      </p:sp>
      <p:sp>
        <p:nvSpPr>
          <p:cNvPr id="6" name="Text 4"/>
          <p:cNvSpPr txBox="1"/>
          <p:nvPr/>
        </p:nvSpPr>
        <p:spPr>
          <a:xfrm>
            <a:off x="768096" y="2066544"/>
            <a:ext cx="3108960" cy="329184"/>
          </a:xfrm>
          <a:prstGeom prst="rect">
            <a:avLst/>
          </a:prstGeom>
          <a:noFill/>
          <a:ln/>
        </p:spPr>
        <p:txBody>
          <a:bodyPr wrap="square" lIns="0" tIns="0" rIns="0" bIns="0" rtlCol="0" anchor="ctr"/>
          <a:lstStyle/>
          <a:p>
            <a:pPr indent="0" marL="0">
              <a:buNone/>
            </a:pPr>
            <a:r>
              <a:rPr lang="en-US" sz="1300" b="1" dirty="0">
                <a:solidFill>
                  <a:srgbClr val="35D0A5"/>
                </a:solidFill>
                <a:latin typeface="Calibri" pitchFamily="34" charset="0"/>
                <a:ea typeface="Calibri" pitchFamily="34" charset="-122"/>
                <a:cs typeface="Calibri" pitchFamily="34" charset="-120"/>
              </a:rPr>
              <a:t>Control reports UNKNOWN</a:t>
            </a:r>
            <a:endParaRPr lang="en-US" sz="1300" dirty="0"/>
          </a:p>
        </p:txBody>
      </p:sp>
      <p:sp>
        <p:nvSpPr>
          <p:cNvPr id="7" name="Text 5"/>
          <p:cNvSpPr txBox="1"/>
          <p:nvPr/>
        </p:nvSpPr>
        <p:spPr>
          <a:xfrm>
            <a:off x="768096" y="2450592"/>
            <a:ext cx="3108960" cy="841248"/>
          </a:xfrm>
          <a:prstGeom prst="rect">
            <a:avLst/>
          </a:prstGeom>
          <a:noFill/>
          <a:ln/>
        </p:spPr>
        <p:txBody>
          <a:bodyPr wrap="square" lIns="0" tIns="0" rIns="0" bIns="0" rtlCol="0" anchor="ctr"/>
          <a:lstStyle/>
          <a:p>
            <a:pPr indent="0" marL="0">
              <a:buNone/>
            </a:pPr>
            <a:r>
              <a:rPr lang="en-US" sz="1000" dirty="0">
                <a:solidFill>
                  <a:srgbClr val="93A4B8"/>
                </a:solidFill>
                <a:latin typeface="Calibri" pitchFamily="34" charset="0"/>
                <a:ea typeface="Calibri" pitchFamily="34" charset="-122"/>
                <a:cs typeface="Calibri" pitchFamily="34" charset="-120"/>
              </a:rPr>
              <a:t>Never PASS, never FAIL. A wrong reading lowers coverage; it cannot corrupt a verdict.</a:t>
            </a:r>
            <a:endParaRPr lang="en-US" sz="1000" dirty="0"/>
          </a:p>
        </p:txBody>
      </p:sp>
      <p:sp>
        <p:nvSpPr>
          <p:cNvPr id="8" name="Shape 6"/>
          <p:cNvSpPr/>
          <p:nvPr/>
        </p:nvSpPr>
        <p:spPr>
          <a:xfrm>
            <a:off x="4279392" y="1627632"/>
            <a:ext cx="3493008" cy="1810512"/>
          </a:xfrm>
          <a:prstGeom prst="roundRect">
            <a:avLst>
              <a:gd name="adj" fmla="val 3030"/>
            </a:avLst>
          </a:prstGeom>
          <a:solidFill>
            <a:srgbClr val="18222E"/>
          </a:solidFill>
          <a:ln w="12700">
            <a:solidFill>
              <a:srgbClr val="2B3A4C"/>
            </a:solidFill>
            <a:prstDash val="solid"/>
          </a:ln>
        </p:spPr>
      </p:sp>
      <p:sp>
        <p:nvSpPr>
          <p:cNvPr id="9" name="Text 7"/>
          <p:cNvSpPr txBox="1"/>
          <p:nvPr/>
        </p:nvSpPr>
        <p:spPr>
          <a:xfrm>
            <a:off x="4480560" y="1792224"/>
            <a:ext cx="3108960" cy="274320"/>
          </a:xfrm>
          <a:prstGeom prst="rect">
            <a:avLst/>
          </a:prstGeom>
          <a:noFill/>
          <a:ln/>
        </p:spPr>
        <p:txBody>
          <a:bodyPr wrap="square" lIns="0" tIns="0" rIns="0" bIns="0" rtlCol="0" anchor="ctr"/>
          <a:lstStyle/>
          <a:p>
            <a:pPr indent="0" marL="0">
              <a:buNone/>
            </a:pPr>
            <a:r>
              <a:rPr lang="en-US" sz="1050" dirty="0">
                <a:solidFill>
                  <a:srgbClr val="64768C"/>
                </a:solidFill>
                <a:latin typeface="Calibri" pitchFamily="34" charset="0"/>
                <a:ea typeface="Calibri" pitchFamily="34" charset="-122"/>
                <a:cs typeface="Calibri" pitchFamily="34" charset="-120"/>
              </a:rPr>
              <a:t>Prompt injection in a config</a:t>
            </a:r>
            <a:endParaRPr lang="en-US" sz="1050" dirty="0"/>
          </a:p>
        </p:txBody>
      </p:sp>
      <p:sp>
        <p:nvSpPr>
          <p:cNvPr id="10" name="Text 8"/>
          <p:cNvSpPr txBox="1"/>
          <p:nvPr/>
        </p:nvSpPr>
        <p:spPr>
          <a:xfrm>
            <a:off x="4480560" y="2066544"/>
            <a:ext cx="3108960" cy="329184"/>
          </a:xfrm>
          <a:prstGeom prst="rect">
            <a:avLst/>
          </a:prstGeom>
          <a:noFill/>
          <a:ln/>
        </p:spPr>
        <p:txBody>
          <a:bodyPr wrap="square" lIns="0" tIns="0" rIns="0" bIns="0" rtlCol="0" anchor="ctr"/>
          <a:lstStyle/>
          <a:p>
            <a:pPr indent="0" marL="0">
              <a:buNone/>
            </a:pPr>
            <a:r>
              <a:rPr lang="en-US" sz="1300" b="1" dirty="0">
                <a:solidFill>
                  <a:srgbClr val="35D0A5"/>
                </a:solidFill>
                <a:latin typeface="Calibri" pitchFamily="34" charset="0"/>
                <a:ea typeface="Calibri" pitchFamily="34" charset="-122"/>
                <a:cs typeface="Calibri" pitchFamily="34" charset="-120"/>
              </a:rPr>
              <a:t>Structurally inert</a:t>
            </a:r>
            <a:endParaRPr lang="en-US" sz="1300" dirty="0"/>
          </a:p>
        </p:txBody>
      </p:sp>
      <p:sp>
        <p:nvSpPr>
          <p:cNvPr id="11" name="Text 9"/>
          <p:cNvSpPr txBox="1"/>
          <p:nvPr/>
        </p:nvSpPr>
        <p:spPr>
          <a:xfrm>
            <a:off x="4480560" y="2450592"/>
            <a:ext cx="3108960" cy="841248"/>
          </a:xfrm>
          <a:prstGeom prst="rect">
            <a:avLst/>
          </a:prstGeom>
          <a:noFill/>
          <a:ln/>
        </p:spPr>
        <p:txBody>
          <a:bodyPr wrap="square" lIns="0" tIns="0" rIns="0" bIns="0" rtlCol="0" anchor="ctr"/>
          <a:lstStyle/>
          <a:p>
            <a:pPr indent="0" marL="0">
              <a:buNone/>
            </a:pPr>
            <a:r>
              <a:rPr lang="en-US" sz="1000" dirty="0">
                <a:solidFill>
                  <a:srgbClr val="93A4B8"/>
                </a:solidFill>
                <a:latin typeface="Calibri" pitchFamily="34" charset="0"/>
                <a:ea typeface="Calibri" pitchFamily="34" charset="-122"/>
                <a:cs typeface="Calibri" pitchFamily="34" charset="-120"/>
              </a:rPr>
              <a:t>Config is fenced as untrusted data — and even full compliance yields no verdict, because the model has no path to one.</a:t>
            </a:r>
            <a:endParaRPr lang="en-US" sz="1000" dirty="0"/>
          </a:p>
        </p:txBody>
      </p:sp>
      <p:sp>
        <p:nvSpPr>
          <p:cNvPr id="12" name="Shape 10"/>
          <p:cNvSpPr/>
          <p:nvPr/>
        </p:nvSpPr>
        <p:spPr>
          <a:xfrm>
            <a:off x="7991856" y="1627632"/>
            <a:ext cx="3493008" cy="1810512"/>
          </a:xfrm>
          <a:prstGeom prst="roundRect">
            <a:avLst>
              <a:gd name="adj" fmla="val 3030"/>
            </a:avLst>
          </a:prstGeom>
          <a:solidFill>
            <a:srgbClr val="18222E"/>
          </a:solidFill>
          <a:ln w="12700">
            <a:solidFill>
              <a:srgbClr val="2B3A4C"/>
            </a:solidFill>
            <a:prstDash val="solid"/>
          </a:ln>
        </p:spPr>
      </p:sp>
      <p:sp>
        <p:nvSpPr>
          <p:cNvPr id="13" name="Text 11"/>
          <p:cNvSpPr txBox="1"/>
          <p:nvPr/>
        </p:nvSpPr>
        <p:spPr>
          <a:xfrm>
            <a:off x="8193024" y="1792224"/>
            <a:ext cx="3108960" cy="274320"/>
          </a:xfrm>
          <a:prstGeom prst="rect">
            <a:avLst/>
          </a:prstGeom>
          <a:noFill/>
          <a:ln/>
        </p:spPr>
        <p:txBody>
          <a:bodyPr wrap="square" lIns="0" tIns="0" rIns="0" bIns="0" rtlCol="0" anchor="ctr"/>
          <a:lstStyle/>
          <a:p>
            <a:pPr indent="0" marL="0">
              <a:buNone/>
            </a:pPr>
            <a:r>
              <a:rPr lang="en-US" sz="1050" dirty="0">
                <a:solidFill>
                  <a:srgbClr val="64768C"/>
                </a:solidFill>
                <a:latin typeface="Calibri" pitchFamily="34" charset="0"/>
                <a:ea typeface="Calibri" pitchFamily="34" charset="-122"/>
                <a:cs typeface="Calibri" pitchFamily="34" charset="-120"/>
              </a:rPr>
              <a:t>Inference endpoint down</a:t>
            </a:r>
            <a:endParaRPr lang="en-US" sz="1050" dirty="0"/>
          </a:p>
        </p:txBody>
      </p:sp>
      <p:sp>
        <p:nvSpPr>
          <p:cNvPr id="14" name="Text 12"/>
          <p:cNvSpPr txBox="1"/>
          <p:nvPr/>
        </p:nvSpPr>
        <p:spPr>
          <a:xfrm>
            <a:off x="8193024" y="2066544"/>
            <a:ext cx="3108960" cy="329184"/>
          </a:xfrm>
          <a:prstGeom prst="rect">
            <a:avLst/>
          </a:prstGeom>
          <a:noFill/>
          <a:ln/>
        </p:spPr>
        <p:txBody>
          <a:bodyPr wrap="square" lIns="0" tIns="0" rIns="0" bIns="0" rtlCol="0" anchor="ctr"/>
          <a:lstStyle/>
          <a:p>
            <a:pPr indent="0" marL="0">
              <a:buNone/>
            </a:pPr>
            <a:r>
              <a:rPr lang="en-US" sz="1300" b="1" dirty="0">
                <a:solidFill>
                  <a:srgbClr val="35D0A5"/>
                </a:solidFill>
                <a:latin typeface="Calibri" pitchFamily="34" charset="0"/>
                <a:ea typeface="Calibri" pitchFamily="34" charset="-122"/>
                <a:cs typeface="Calibri" pitchFamily="34" charset="-120"/>
              </a:rPr>
              <a:t>Degraded, not stopped</a:t>
            </a:r>
            <a:endParaRPr lang="en-US" sz="1300" dirty="0"/>
          </a:p>
        </p:txBody>
      </p:sp>
      <p:sp>
        <p:nvSpPr>
          <p:cNvPr id="15" name="Text 13"/>
          <p:cNvSpPr txBox="1"/>
          <p:nvPr/>
        </p:nvSpPr>
        <p:spPr>
          <a:xfrm>
            <a:off x="8193024" y="2450592"/>
            <a:ext cx="3108960" cy="841248"/>
          </a:xfrm>
          <a:prstGeom prst="rect">
            <a:avLst/>
          </a:prstGeom>
          <a:noFill/>
          <a:ln/>
        </p:spPr>
        <p:txBody>
          <a:bodyPr wrap="square" lIns="0" tIns="0" rIns="0" bIns="0" rtlCol="0" anchor="ctr"/>
          <a:lstStyle/>
          <a:p>
            <a:pPr indent="0" marL="0">
              <a:buNone/>
            </a:pPr>
            <a:r>
              <a:rPr lang="en-US" sz="1000" dirty="0">
                <a:solidFill>
                  <a:srgbClr val="93A4B8"/>
                </a:solidFill>
                <a:latin typeface="Calibri" pitchFamily="34" charset="0"/>
                <a:ea typeface="Calibri" pitchFamily="34" charset="-122"/>
                <a:cs typeface="Calibri" pitchFamily="34" charset="-120"/>
              </a:rPr>
              <a:t>Parsing, compliance, reporting and manual classification all continue. Commands queue for a human.</a:t>
            </a:r>
            <a:endParaRPr lang="en-US" sz="1000" dirty="0"/>
          </a:p>
        </p:txBody>
      </p:sp>
      <p:sp>
        <p:nvSpPr>
          <p:cNvPr id="16" name="Shape 14"/>
          <p:cNvSpPr/>
          <p:nvPr/>
        </p:nvSpPr>
        <p:spPr>
          <a:xfrm>
            <a:off x="566928" y="3602736"/>
            <a:ext cx="3493008" cy="1810512"/>
          </a:xfrm>
          <a:prstGeom prst="roundRect">
            <a:avLst>
              <a:gd name="adj" fmla="val 3030"/>
            </a:avLst>
          </a:prstGeom>
          <a:solidFill>
            <a:srgbClr val="18222E"/>
          </a:solidFill>
          <a:ln w="12700">
            <a:solidFill>
              <a:srgbClr val="2B3A4C"/>
            </a:solidFill>
            <a:prstDash val="solid"/>
          </a:ln>
        </p:spPr>
      </p:sp>
      <p:sp>
        <p:nvSpPr>
          <p:cNvPr id="17" name="Text 15"/>
          <p:cNvSpPr txBox="1"/>
          <p:nvPr/>
        </p:nvSpPr>
        <p:spPr>
          <a:xfrm>
            <a:off x="768096" y="3767328"/>
            <a:ext cx="3108960" cy="274320"/>
          </a:xfrm>
          <a:prstGeom prst="rect">
            <a:avLst/>
          </a:prstGeom>
          <a:noFill/>
          <a:ln/>
        </p:spPr>
        <p:txBody>
          <a:bodyPr wrap="square" lIns="0" tIns="0" rIns="0" bIns="0" rtlCol="0" anchor="ctr"/>
          <a:lstStyle/>
          <a:p>
            <a:pPr indent="0" marL="0">
              <a:buNone/>
            </a:pPr>
            <a:r>
              <a:rPr lang="en-US" sz="1050" dirty="0">
                <a:solidFill>
                  <a:srgbClr val="64768C"/>
                </a:solidFill>
                <a:latin typeface="Calibri" pitchFamily="34" charset="0"/>
                <a:ea typeface="Calibri" pitchFamily="34" charset="-122"/>
                <a:cs typeface="Calibri" pitchFamily="34" charset="-120"/>
              </a:rPr>
              <a:t>Two readings disagree</a:t>
            </a:r>
            <a:endParaRPr lang="en-US" sz="1050" dirty="0"/>
          </a:p>
        </p:txBody>
      </p:sp>
      <p:sp>
        <p:nvSpPr>
          <p:cNvPr id="18" name="Text 16"/>
          <p:cNvSpPr txBox="1"/>
          <p:nvPr/>
        </p:nvSpPr>
        <p:spPr>
          <a:xfrm>
            <a:off x="768096" y="4041648"/>
            <a:ext cx="3108960" cy="329184"/>
          </a:xfrm>
          <a:prstGeom prst="rect">
            <a:avLst/>
          </a:prstGeom>
          <a:noFill/>
          <a:ln/>
        </p:spPr>
        <p:txBody>
          <a:bodyPr wrap="square" lIns="0" tIns="0" rIns="0" bIns="0" rtlCol="0" anchor="ctr"/>
          <a:lstStyle/>
          <a:p>
            <a:pPr indent="0" marL="0">
              <a:buNone/>
            </a:pPr>
            <a:r>
              <a:rPr lang="en-US" sz="1300" b="1" dirty="0">
                <a:solidFill>
                  <a:srgbClr val="FFA23C"/>
                </a:solidFill>
                <a:latin typeface="Calibri" pitchFamily="34" charset="0"/>
                <a:ea typeface="Calibri" pitchFamily="34" charset="-122"/>
                <a:cs typeface="Calibri" pitchFamily="34" charset="-120"/>
              </a:rPr>
              <a:t>The riskier one wins</a:t>
            </a:r>
            <a:endParaRPr lang="en-US" sz="1300" dirty="0"/>
          </a:p>
        </p:txBody>
      </p:sp>
      <p:sp>
        <p:nvSpPr>
          <p:cNvPr id="19" name="Text 17"/>
          <p:cNvSpPr txBox="1"/>
          <p:nvPr/>
        </p:nvSpPr>
        <p:spPr>
          <a:xfrm>
            <a:off x="768096" y="4425696"/>
            <a:ext cx="3108960" cy="841248"/>
          </a:xfrm>
          <a:prstGeom prst="rect">
            <a:avLst/>
          </a:prstGeom>
          <a:noFill/>
          <a:ln/>
        </p:spPr>
        <p:txBody>
          <a:bodyPr wrap="square" lIns="0" tIns="0" rIns="0" bIns="0" rtlCol="0" anchor="ctr"/>
          <a:lstStyle/>
          <a:p>
            <a:pPr indent="0" marL="0">
              <a:buNone/>
            </a:pPr>
            <a:r>
              <a:rPr lang="en-US" sz="1000" dirty="0">
                <a:solidFill>
                  <a:srgbClr val="93A4B8"/>
                </a:solidFill>
                <a:latin typeface="Calibri" pitchFamily="34" charset="0"/>
                <a:ea typeface="Calibri" pitchFamily="34" charset="-122"/>
                <a:cs typeface="Calibri" pitchFamily="34" charset="-120"/>
              </a:rPr>
              <a:t>Both lines cited. In an audit, a false negative is more damaging than a false positive.</a:t>
            </a:r>
            <a:endParaRPr lang="en-US" sz="1000" dirty="0"/>
          </a:p>
        </p:txBody>
      </p:sp>
      <p:sp>
        <p:nvSpPr>
          <p:cNvPr id="20" name="Shape 18"/>
          <p:cNvSpPr/>
          <p:nvPr/>
        </p:nvSpPr>
        <p:spPr>
          <a:xfrm>
            <a:off x="4279392" y="3602736"/>
            <a:ext cx="3493008" cy="1810512"/>
          </a:xfrm>
          <a:prstGeom prst="roundRect">
            <a:avLst>
              <a:gd name="adj" fmla="val 3030"/>
            </a:avLst>
          </a:prstGeom>
          <a:solidFill>
            <a:srgbClr val="18222E"/>
          </a:solidFill>
          <a:ln w="12700">
            <a:solidFill>
              <a:srgbClr val="2B3A4C"/>
            </a:solidFill>
            <a:prstDash val="solid"/>
          </a:ln>
        </p:spPr>
      </p:sp>
      <p:sp>
        <p:nvSpPr>
          <p:cNvPr id="21" name="Text 19"/>
          <p:cNvSpPr txBox="1"/>
          <p:nvPr/>
        </p:nvSpPr>
        <p:spPr>
          <a:xfrm>
            <a:off x="4480560" y="3767328"/>
            <a:ext cx="3108960" cy="274320"/>
          </a:xfrm>
          <a:prstGeom prst="rect">
            <a:avLst/>
          </a:prstGeom>
          <a:noFill/>
          <a:ln/>
        </p:spPr>
        <p:txBody>
          <a:bodyPr wrap="square" lIns="0" tIns="0" rIns="0" bIns="0" rtlCol="0" anchor="ctr"/>
          <a:lstStyle/>
          <a:p>
            <a:pPr indent="0" marL="0">
              <a:buNone/>
            </a:pPr>
            <a:r>
              <a:rPr lang="en-US" sz="1050" dirty="0">
                <a:solidFill>
                  <a:srgbClr val="64768C"/>
                </a:solidFill>
                <a:latin typeface="Calibri" pitchFamily="34" charset="0"/>
                <a:ea typeface="Calibri" pitchFamily="34" charset="-122"/>
                <a:cs typeface="Calibri" pitchFamily="34" charset="-120"/>
              </a:rPr>
              <a:t>Setting cannot be parsed</a:t>
            </a:r>
            <a:endParaRPr lang="en-US" sz="1050" dirty="0"/>
          </a:p>
        </p:txBody>
      </p:sp>
      <p:sp>
        <p:nvSpPr>
          <p:cNvPr id="22" name="Text 20"/>
          <p:cNvSpPr txBox="1"/>
          <p:nvPr/>
        </p:nvSpPr>
        <p:spPr>
          <a:xfrm>
            <a:off x="4480560" y="4041648"/>
            <a:ext cx="3108960" cy="329184"/>
          </a:xfrm>
          <a:prstGeom prst="rect">
            <a:avLst/>
          </a:prstGeom>
          <a:noFill/>
          <a:ln/>
        </p:spPr>
        <p:txBody>
          <a:bodyPr wrap="square" lIns="0" tIns="0" rIns="0" bIns="0" rtlCol="0" anchor="ctr"/>
          <a:lstStyle/>
          <a:p>
            <a:pPr indent="0" marL="0">
              <a:buNone/>
            </a:pPr>
            <a:r>
              <a:rPr lang="en-US" sz="1300" b="1" dirty="0">
                <a:solidFill>
                  <a:srgbClr val="FFA23C"/>
                </a:solidFill>
                <a:latin typeface="Calibri" pitchFamily="34" charset="0"/>
                <a:ea typeface="Calibri" pitchFamily="34" charset="-122"/>
                <a:cs typeface="Calibri" pitchFamily="34" charset="-120"/>
              </a:rPr>
              <a:t>UNKNOWN, not FAIL</a:t>
            </a:r>
            <a:endParaRPr lang="en-US" sz="1300" dirty="0"/>
          </a:p>
        </p:txBody>
      </p:sp>
      <p:sp>
        <p:nvSpPr>
          <p:cNvPr id="23" name="Text 21"/>
          <p:cNvSpPr txBox="1"/>
          <p:nvPr/>
        </p:nvSpPr>
        <p:spPr>
          <a:xfrm>
            <a:off x="4480560" y="4425696"/>
            <a:ext cx="3108960" cy="841248"/>
          </a:xfrm>
          <a:prstGeom prst="rect">
            <a:avLst/>
          </a:prstGeom>
          <a:noFill/>
          <a:ln/>
        </p:spPr>
        <p:txBody>
          <a:bodyPr wrap="square" lIns="0" tIns="0" rIns="0" bIns="0" rtlCol="0" anchor="ctr"/>
          <a:lstStyle/>
          <a:p>
            <a:pPr indent="0" marL="0">
              <a:buNone/>
            </a:pPr>
            <a:r>
              <a:rPr lang="en-US" sz="1000" dirty="0">
                <a:solidFill>
                  <a:srgbClr val="93A4B8"/>
                </a:solidFill>
                <a:latin typeface="Calibri" pitchFamily="34" charset="0"/>
                <a:ea typeface="Calibri" pitchFamily="34" charset="-122"/>
                <a:cs typeface="Calibri" pitchFamily="34" charset="-120"/>
              </a:rPr>
              <a:t>Reporting an unparsed line as a violation would manufacture a false positive and destroy trust in the score.</a:t>
            </a:r>
            <a:endParaRPr lang="en-US" sz="1000" dirty="0"/>
          </a:p>
        </p:txBody>
      </p:sp>
      <p:sp>
        <p:nvSpPr>
          <p:cNvPr id="24" name="Shape 22"/>
          <p:cNvSpPr/>
          <p:nvPr/>
        </p:nvSpPr>
        <p:spPr>
          <a:xfrm>
            <a:off x="7991856" y="3602736"/>
            <a:ext cx="3493008" cy="1810512"/>
          </a:xfrm>
          <a:prstGeom prst="roundRect">
            <a:avLst>
              <a:gd name="adj" fmla="val 3030"/>
            </a:avLst>
          </a:prstGeom>
          <a:solidFill>
            <a:srgbClr val="18222E"/>
          </a:solidFill>
          <a:ln w="12700">
            <a:solidFill>
              <a:srgbClr val="2B3A4C"/>
            </a:solidFill>
            <a:prstDash val="solid"/>
          </a:ln>
        </p:spPr>
      </p:sp>
      <p:sp>
        <p:nvSpPr>
          <p:cNvPr id="25" name="Text 23"/>
          <p:cNvSpPr txBox="1"/>
          <p:nvPr/>
        </p:nvSpPr>
        <p:spPr>
          <a:xfrm>
            <a:off x="8193024" y="3767328"/>
            <a:ext cx="3108960" cy="274320"/>
          </a:xfrm>
          <a:prstGeom prst="rect">
            <a:avLst/>
          </a:prstGeom>
          <a:noFill/>
          <a:ln/>
        </p:spPr>
        <p:txBody>
          <a:bodyPr wrap="square" lIns="0" tIns="0" rIns="0" bIns="0" rtlCol="0" anchor="ctr"/>
          <a:lstStyle/>
          <a:p>
            <a:pPr indent="0" marL="0">
              <a:buNone/>
            </a:pPr>
            <a:r>
              <a:rPr lang="en-US" sz="1050" dirty="0">
                <a:solidFill>
                  <a:srgbClr val="64768C"/>
                </a:solidFill>
                <a:latin typeface="Calibri" pitchFamily="34" charset="0"/>
                <a:ea typeface="Calibri" pitchFamily="34" charset="-122"/>
                <a:cs typeface="Calibri" pitchFamily="34" charset="-120"/>
              </a:rPr>
              <a:t>No verified remediation</a:t>
            </a:r>
            <a:endParaRPr lang="en-US" sz="1050" dirty="0"/>
          </a:p>
        </p:txBody>
      </p:sp>
      <p:sp>
        <p:nvSpPr>
          <p:cNvPr id="26" name="Text 24"/>
          <p:cNvSpPr txBox="1"/>
          <p:nvPr/>
        </p:nvSpPr>
        <p:spPr>
          <a:xfrm>
            <a:off x="8193024" y="4041648"/>
            <a:ext cx="3108960" cy="329184"/>
          </a:xfrm>
          <a:prstGeom prst="rect">
            <a:avLst/>
          </a:prstGeom>
          <a:noFill/>
          <a:ln/>
        </p:spPr>
        <p:txBody>
          <a:bodyPr wrap="square" lIns="0" tIns="0" rIns="0" bIns="0" rtlCol="0" anchor="ctr"/>
          <a:lstStyle/>
          <a:p>
            <a:pPr indent="0" marL="0">
              <a:buNone/>
            </a:pPr>
            <a:r>
              <a:rPr lang="en-US" sz="1300" b="1" dirty="0">
                <a:solidFill>
                  <a:srgbClr val="FFA23C"/>
                </a:solidFill>
                <a:latin typeface="Calibri" pitchFamily="34" charset="0"/>
                <a:ea typeface="Calibri" pitchFamily="34" charset="-122"/>
                <a:cs typeface="Calibri" pitchFamily="34" charset="-120"/>
              </a:rPr>
              <a:t>Guidance, not commands</a:t>
            </a:r>
            <a:endParaRPr lang="en-US" sz="1300" dirty="0"/>
          </a:p>
        </p:txBody>
      </p:sp>
      <p:sp>
        <p:nvSpPr>
          <p:cNvPr id="27" name="Text 25"/>
          <p:cNvSpPr txBox="1"/>
          <p:nvPr/>
        </p:nvSpPr>
        <p:spPr>
          <a:xfrm>
            <a:off x="8193024" y="4425696"/>
            <a:ext cx="3108960" cy="841248"/>
          </a:xfrm>
          <a:prstGeom prst="rect">
            <a:avLst/>
          </a:prstGeom>
          <a:noFill/>
          <a:ln/>
        </p:spPr>
        <p:txBody>
          <a:bodyPr wrap="square" lIns="0" tIns="0" rIns="0" bIns="0" rtlCol="0" anchor="ctr"/>
          <a:lstStyle/>
          <a:p>
            <a:pPr indent="0" marL="0">
              <a:buNone/>
            </a:pPr>
            <a:r>
              <a:rPr lang="en-US" sz="1000" dirty="0">
                <a:solidFill>
                  <a:srgbClr val="93A4B8"/>
                </a:solidFill>
                <a:latin typeface="Calibri" pitchFamily="34" charset="0"/>
                <a:ea typeface="Calibri" pitchFamily="34" charset="-122"/>
                <a:cs typeface="Calibri" pitchFamily="34" charset="-120"/>
              </a:rPr>
              <a:t>A hallucinated CLI command in a report gets pasted into production. We say so instead.</a:t>
            </a:r>
            <a:endParaRPr lang="en-US" sz="1000" dirty="0"/>
          </a:p>
        </p:txBody>
      </p:sp>
      <p:sp>
        <p:nvSpPr>
          <p:cNvPr id="28" name="Text 26"/>
          <p:cNvSpPr txBox="1"/>
          <p:nvPr/>
        </p:nvSpPr>
        <p:spPr>
          <a:xfrm>
            <a:off x="566928" y="5650992"/>
            <a:ext cx="11055096" cy="365760"/>
          </a:xfrm>
          <a:prstGeom prst="rect">
            <a:avLst/>
          </a:prstGeom>
          <a:noFill/>
          <a:ln/>
        </p:spPr>
        <p:txBody>
          <a:bodyPr wrap="square" lIns="0" tIns="0" rIns="0" bIns="0" rtlCol="0" anchor="ctr"/>
          <a:lstStyle/>
          <a:p>
            <a:pPr indent="0" marL="0">
              <a:buNone/>
            </a:pPr>
            <a:r>
              <a:rPr lang="en-US" sz="1150" dirty="0">
                <a:solidFill>
                  <a:srgbClr val="93A4B8"/>
                </a:solidFill>
                <a:latin typeface="Calibri" pitchFamily="34" charset="0"/>
                <a:ea typeface="Calibri" pitchFamily="34" charset="-122"/>
                <a:cs typeface="Calibri" pitchFamily="34" charset="-120"/>
              </a:rPr>
              <a:t>Credentials — password hashes, SNMP communities, pre-shared keys, private keys — are redacted before any prompt is built and before any evidence is drawn into a report.</a:t>
            </a:r>
            <a:endParaRPr lang="en-US" sz="1150" dirty="0"/>
          </a:p>
        </p:txBody>
      </p:sp>
      <p:sp>
        <p:nvSpPr>
          <p:cNvPr id="30" name="Text 27"/>
          <p:cNvSpPr txBox="1"/>
          <p:nvPr/>
        </p:nvSpPr>
        <p:spPr>
          <a:xfrm>
            <a:off x="566928" y="6327648"/>
            <a:ext cx="6400800" cy="256032"/>
          </a:xfrm>
          <a:prstGeom prst="rect">
            <a:avLst/>
          </a:prstGeom>
          <a:noFill/>
          <a:ln/>
        </p:spPr>
        <p:txBody>
          <a:bodyPr wrap="square" lIns="0" tIns="0" rIns="0" bIns="0" rtlCol="0" anchor="ctr"/>
          <a:lstStyle/>
          <a:p>
            <a:pPr indent="0" marL="0">
              <a:buNone/>
            </a:pPr>
            <a:r>
              <a:rPr lang="en-US" sz="900" dirty="0">
                <a:solidFill>
                  <a:srgbClr val="64768C"/>
                </a:solidFill>
                <a:latin typeface="Calibri" pitchFamily="34" charset="0"/>
                <a:ea typeface="Calibri" pitchFamily="34" charset="-122"/>
                <a:cs typeface="Calibri" pitchFamily="34" charset="-120"/>
              </a:rPr>
              <a:t>NetBaseline AI  ·  SIH 2026  ·  PS 26155  ·  NTRO</a:t>
            </a:r>
            <a:endParaRPr lang="en-US" sz="900" dirty="0"/>
          </a:p>
        </p:txBody>
      </p:sp>
      <p:sp>
        <p:nvSpPr>
          <p:cNvPr id="31" name="Text 28"/>
          <p:cNvSpPr txBox="1"/>
          <p:nvPr/>
        </p:nvSpPr>
        <p:spPr>
          <a:xfrm>
            <a:off x="11073384" y="6327648"/>
            <a:ext cx="548640" cy="256032"/>
          </a:xfrm>
          <a:prstGeom prst="rect">
            <a:avLst/>
          </a:prstGeom>
          <a:noFill/>
          <a:ln/>
        </p:spPr>
        <p:txBody>
          <a:bodyPr wrap="square" lIns="0" tIns="0" rIns="0" bIns="0" rtlCol="0" anchor="ctr"/>
          <a:lstStyle/>
          <a:p>
            <a:pPr algn="r" indent="0" marL="0">
              <a:buNone/>
            </a:pPr>
            <a:r>
              <a:rPr lang="en-US" sz="900" dirty="0">
                <a:solidFill>
                  <a:srgbClr val="64768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520"/>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621792"/>
          </a:xfrm>
          <a:prstGeom prst="rect">
            <a:avLst/>
          </a:prstGeom>
          <a:noFill/>
          <a:ln/>
        </p:spPr>
        <p:txBody>
          <a:bodyPr wrap="square" lIns="0" tIns="0" rIns="0" bIns="0" rtlCol="0" anchor="ctr"/>
          <a:lstStyle/>
          <a:p>
            <a:pPr indent="0" marL="0">
              <a:buNone/>
            </a:pPr>
            <a:r>
              <a:rPr lang="en-US" sz="3400" b="1" dirty="0">
                <a:solidFill>
                  <a:srgbClr val="E9EFF6"/>
                </a:solidFill>
                <a:latin typeface="Cambria" pitchFamily="34" charset="0"/>
                <a:ea typeface="Cambria" pitchFamily="34" charset="-122"/>
                <a:cs typeface="Cambria" pitchFamily="34" charset="-120"/>
              </a:rPr>
              <a:t>Working prototype, measured</a:t>
            </a:r>
            <a:endParaRPr lang="en-US" sz="3400" dirty="0"/>
          </a:p>
        </p:txBody>
      </p:sp>
      <p:sp>
        <p:nvSpPr>
          <p:cNvPr id="3" name="Text 1"/>
          <p:cNvSpPr txBox="1"/>
          <p:nvPr/>
        </p:nvSpPr>
        <p:spPr>
          <a:xfrm>
            <a:off x="566928" y="1024128"/>
            <a:ext cx="11055096" cy="329184"/>
          </a:xfrm>
          <a:prstGeom prst="rect">
            <a:avLst/>
          </a:prstGeom>
          <a:noFill/>
          <a:ln/>
        </p:spPr>
        <p:txBody>
          <a:bodyPr wrap="square" lIns="0" tIns="0" rIns="0" bIns="0" rtlCol="0" anchor="ctr"/>
          <a:lstStyle/>
          <a:p>
            <a:pPr indent="0" marL="0">
              <a:buNone/>
            </a:pPr>
            <a:r>
              <a:rPr lang="en-US" sz="1400" dirty="0">
                <a:solidFill>
                  <a:srgbClr val="93A4B8"/>
                </a:solidFill>
                <a:latin typeface="Calibri" pitchFamily="34" charset="0"/>
                <a:ea typeface="Calibri" pitchFamily="34" charset="-122"/>
                <a:cs typeface="Calibri" pitchFamily="34" charset="-120"/>
              </a:rPr>
              <a:t>Six configurations, five vendor packs, one vendor deliberately left unsupported — and a cloud firewall that is not a CLI at all.</a:t>
            </a:r>
            <a:endParaRPr lang="en-US" sz="1400" dirty="0"/>
          </a:p>
        </p:txBody>
      </p:sp>
      <p:sp>
        <p:nvSpPr>
          <p:cNvPr id="4" name="Shape 2"/>
          <p:cNvSpPr/>
          <p:nvPr/>
        </p:nvSpPr>
        <p:spPr>
          <a:xfrm>
            <a:off x="566928" y="1627632"/>
            <a:ext cx="2569464" cy="1572768"/>
          </a:xfrm>
          <a:prstGeom prst="roundRect">
            <a:avLst>
              <a:gd name="adj" fmla="val 3488"/>
            </a:avLst>
          </a:prstGeom>
          <a:solidFill>
            <a:srgbClr val="18222E"/>
          </a:solidFill>
          <a:ln w="12700">
            <a:solidFill>
              <a:srgbClr val="2B3A4C"/>
            </a:solidFill>
            <a:prstDash val="solid"/>
          </a:ln>
        </p:spPr>
      </p:sp>
      <p:sp>
        <p:nvSpPr>
          <p:cNvPr id="5" name="Text 3"/>
          <p:cNvSpPr txBox="1"/>
          <p:nvPr/>
        </p:nvSpPr>
        <p:spPr>
          <a:xfrm>
            <a:off x="749808" y="1755648"/>
            <a:ext cx="2240280" cy="566928"/>
          </a:xfrm>
          <a:prstGeom prst="rect">
            <a:avLst/>
          </a:prstGeom>
          <a:noFill/>
          <a:ln/>
        </p:spPr>
        <p:txBody>
          <a:bodyPr wrap="square" lIns="0" tIns="0" rIns="0" bIns="0" rtlCol="0" anchor="ctr"/>
          <a:lstStyle/>
          <a:p>
            <a:pPr indent="0" marL="0">
              <a:buNone/>
            </a:pPr>
            <a:r>
              <a:rPr lang="en-US" sz="3400" b="1" dirty="0">
                <a:solidFill>
                  <a:srgbClr val="4C9AFF"/>
                </a:solidFill>
                <a:latin typeface="Cambria" pitchFamily="34" charset="0"/>
                <a:ea typeface="Cambria" pitchFamily="34" charset="-122"/>
                <a:cs typeface="Cambria" pitchFamily="34" charset="-120"/>
              </a:rPr>
              <a:t>23</a:t>
            </a:r>
            <a:endParaRPr lang="en-US" sz="3400" dirty="0"/>
          </a:p>
        </p:txBody>
      </p:sp>
      <p:sp>
        <p:nvSpPr>
          <p:cNvPr id="6" name="Text 4"/>
          <p:cNvSpPr txBox="1"/>
          <p:nvPr/>
        </p:nvSpPr>
        <p:spPr>
          <a:xfrm>
            <a:off x="749808" y="2322576"/>
            <a:ext cx="2240280" cy="256032"/>
          </a:xfrm>
          <a:prstGeom prst="rect">
            <a:avLst/>
          </a:prstGeom>
          <a:noFill/>
          <a:ln/>
        </p:spPr>
        <p:txBody>
          <a:bodyPr wrap="square" lIns="0" tIns="0" rIns="0" bIns="0" rtlCol="0" anchor="ctr"/>
          <a:lstStyle/>
          <a:p>
            <a:pPr indent="0" marL="0">
              <a:buNone/>
            </a:pPr>
            <a:r>
              <a:rPr lang="en-US" sz="1150" b="1" dirty="0">
                <a:solidFill>
                  <a:srgbClr val="E9EFF6"/>
                </a:solidFill>
                <a:latin typeface="Calibri" pitchFamily="34" charset="0"/>
                <a:ea typeface="Calibri" pitchFamily="34" charset="-122"/>
                <a:cs typeface="Calibri" pitchFamily="34" charset="-120"/>
              </a:rPr>
              <a:t>controls</a:t>
            </a:r>
            <a:endParaRPr lang="en-US" sz="1150" dirty="0"/>
          </a:p>
        </p:txBody>
      </p:sp>
      <p:sp>
        <p:nvSpPr>
          <p:cNvPr id="7" name="Text 5"/>
          <p:cNvSpPr txBox="1"/>
          <p:nvPr/>
        </p:nvSpPr>
        <p:spPr>
          <a:xfrm>
            <a:off x="749808" y="2578608"/>
            <a:ext cx="2240280" cy="548640"/>
          </a:xfrm>
          <a:prstGeom prst="rect">
            <a:avLst/>
          </a:prstGeom>
          <a:noFill/>
          <a:ln/>
        </p:spPr>
        <p:txBody>
          <a:bodyPr wrap="square" lIns="0" tIns="0" rIns="0" bIns="0" rtlCol="0" anchor="ctr"/>
          <a:lstStyle/>
          <a:p>
            <a:pPr indent="0" marL="0">
              <a:buNone/>
            </a:pPr>
            <a:r>
              <a:rPr lang="en-US" sz="950" dirty="0">
                <a:solidFill>
                  <a:srgbClr val="93A4B8"/>
                </a:solidFill>
                <a:latin typeface="Calibri" pitchFamily="34" charset="0"/>
                <a:ea typeface="Calibri" pitchFamily="34" charset="-122"/>
                <a:cs typeface="Calibri" pitchFamily="34" charset="-120"/>
              </a:rPr>
              <a:t>each mapped to all four frameworks from one catalogue entry</a:t>
            </a:r>
            <a:endParaRPr lang="en-US" sz="950" dirty="0"/>
          </a:p>
        </p:txBody>
      </p:sp>
      <p:sp>
        <p:nvSpPr>
          <p:cNvPr id="8" name="Shape 6"/>
          <p:cNvSpPr/>
          <p:nvPr/>
        </p:nvSpPr>
        <p:spPr>
          <a:xfrm>
            <a:off x="3355848" y="1627632"/>
            <a:ext cx="2569464" cy="1572768"/>
          </a:xfrm>
          <a:prstGeom prst="roundRect">
            <a:avLst>
              <a:gd name="adj" fmla="val 3488"/>
            </a:avLst>
          </a:prstGeom>
          <a:solidFill>
            <a:srgbClr val="18222E"/>
          </a:solidFill>
          <a:ln w="12700">
            <a:solidFill>
              <a:srgbClr val="2B3A4C"/>
            </a:solidFill>
            <a:prstDash val="solid"/>
          </a:ln>
        </p:spPr>
      </p:sp>
      <p:sp>
        <p:nvSpPr>
          <p:cNvPr id="9" name="Text 7"/>
          <p:cNvSpPr txBox="1"/>
          <p:nvPr/>
        </p:nvSpPr>
        <p:spPr>
          <a:xfrm>
            <a:off x="3538728" y="1755648"/>
            <a:ext cx="2240280" cy="566928"/>
          </a:xfrm>
          <a:prstGeom prst="rect">
            <a:avLst/>
          </a:prstGeom>
          <a:noFill/>
          <a:ln/>
        </p:spPr>
        <p:txBody>
          <a:bodyPr wrap="square" lIns="0" tIns="0" rIns="0" bIns="0" rtlCol="0" anchor="ctr"/>
          <a:lstStyle/>
          <a:p>
            <a:pPr indent="0" marL="0">
              <a:buNone/>
            </a:pPr>
            <a:r>
              <a:rPr lang="en-US" sz="3400" b="1" dirty="0">
                <a:solidFill>
                  <a:srgbClr val="4C9AFF"/>
                </a:solidFill>
                <a:latin typeface="Cambria" pitchFamily="34" charset="0"/>
                <a:ea typeface="Cambria" pitchFamily="34" charset="-122"/>
                <a:cs typeface="Cambria" pitchFamily="34" charset="-120"/>
              </a:rPr>
              <a:t>4</a:t>
            </a:r>
            <a:endParaRPr lang="en-US" sz="3400" dirty="0"/>
          </a:p>
        </p:txBody>
      </p:sp>
      <p:sp>
        <p:nvSpPr>
          <p:cNvPr id="10" name="Text 8"/>
          <p:cNvSpPr txBox="1"/>
          <p:nvPr/>
        </p:nvSpPr>
        <p:spPr>
          <a:xfrm>
            <a:off x="3538728" y="2322576"/>
            <a:ext cx="2240280" cy="256032"/>
          </a:xfrm>
          <a:prstGeom prst="rect">
            <a:avLst/>
          </a:prstGeom>
          <a:noFill/>
          <a:ln/>
        </p:spPr>
        <p:txBody>
          <a:bodyPr wrap="square" lIns="0" tIns="0" rIns="0" bIns="0" rtlCol="0" anchor="ctr"/>
          <a:lstStyle/>
          <a:p>
            <a:pPr indent="0" marL="0">
              <a:buNone/>
            </a:pPr>
            <a:r>
              <a:rPr lang="en-US" sz="1150" b="1" dirty="0">
                <a:solidFill>
                  <a:srgbClr val="E9EFF6"/>
                </a:solidFill>
                <a:latin typeface="Calibri" pitchFamily="34" charset="0"/>
                <a:ea typeface="Calibri" pitchFamily="34" charset="-122"/>
                <a:cs typeface="Calibri" pitchFamily="34" charset="-120"/>
              </a:rPr>
              <a:t>frameworks</a:t>
            </a:r>
            <a:endParaRPr lang="en-US" sz="1150" dirty="0"/>
          </a:p>
        </p:txBody>
      </p:sp>
      <p:sp>
        <p:nvSpPr>
          <p:cNvPr id="11" name="Text 9"/>
          <p:cNvSpPr txBox="1"/>
          <p:nvPr/>
        </p:nvSpPr>
        <p:spPr>
          <a:xfrm>
            <a:off x="3538728" y="2578608"/>
            <a:ext cx="2240280" cy="548640"/>
          </a:xfrm>
          <a:prstGeom prst="rect">
            <a:avLst/>
          </a:prstGeom>
          <a:noFill/>
          <a:ln/>
        </p:spPr>
        <p:txBody>
          <a:bodyPr wrap="square" lIns="0" tIns="0" rIns="0" bIns="0" rtlCol="0" anchor="ctr"/>
          <a:lstStyle/>
          <a:p>
            <a:pPr indent="0" marL="0">
              <a:buNone/>
            </a:pPr>
            <a:r>
              <a:rPr lang="en-US" sz="950" dirty="0">
                <a:solidFill>
                  <a:srgbClr val="93A4B8"/>
                </a:solidFill>
                <a:latin typeface="Calibri" pitchFamily="34" charset="0"/>
                <a:ea typeface="Calibri" pitchFamily="34" charset="-122"/>
                <a:cs typeface="Calibri" pitchFamily="34" charset="-120"/>
              </a:rPr>
              <a:t>CIS · NIST SP 800-53 · DISA STIG · ISO/IEC 27001</a:t>
            </a:r>
            <a:endParaRPr lang="en-US" sz="950" dirty="0"/>
          </a:p>
        </p:txBody>
      </p:sp>
      <p:sp>
        <p:nvSpPr>
          <p:cNvPr id="12" name="Shape 10"/>
          <p:cNvSpPr/>
          <p:nvPr/>
        </p:nvSpPr>
        <p:spPr>
          <a:xfrm>
            <a:off x="6144768" y="1627632"/>
            <a:ext cx="2569464" cy="1572768"/>
          </a:xfrm>
          <a:prstGeom prst="roundRect">
            <a:avLst>
              <a:gd name="adj" fmla="val 3488"/>
            </a:avLst>
          </a:prstGeom>
          <a:solidFill>
            <a:srgbClr val="18222E"/>
          </a:solidFill>
          <a:ln w="12700">
            <a:solidFill>
              <a:srgbClr val="2B3A4C"/>
            </a:solidFill>
            <a:prstDash val="solid"/>
          </a:ln>
        </p:spPr>
      </p:sp>
      <p:sp>
        <p:nvSpPr>
          <p:cNvPr id="13" name="Text 11"/>
          <p:cNvSpPr txBox="1"/>
          <p:nvPr/>
        </p:nvSpPr>
        <p:spPr>
          <a:xfrm>
            <a:off x="6327648" y="1755648"/>
            <a:ext cx="2240280" cy="566928"/>
          </a:xfrm>
          <a:prstGeom prst="rect">
            <a:avLst/>
          </a:prstGeom>
          <a:noFill/>
          <a:ln/>
        </p:spPr>
        <p:txBody>
          <a:bodyPr wrap="square" lIns="0" tIns="0" rIns="0" bIns="0" rtlCol="0" anchor="ctr"/>
          <a:lstStyle/>
          <a:p>
            <a:pPr indent="0" marL="0">
              <a:buNone/>
            </a:pPr>
            <a:r>
              <a:rPr lang="en-US" sz="3400" b="1" dirty="0">
                <a:solidFill>
                  <a:srgbClr val="4C9AFF"/>
                </a:solidFill>
                <a:latin typeface="Cambria" pitchFamily="34" charset="0"/>
                <a:ea typeface="Cambria" pitchFamily="34" charset="-122"/>
                <a:cs typeface="Cambria" pitchFamily="34" charset="-120"/>
              </a:rPr>
              <a:t>164</a:t>
            </a:r>
            <a:endParaRPr lang="en-US" sz="3400" dirty="0"/>
          </a:p>
        </p:txBody>
      </p:sp>
      <p:sp>
        <p:nvSpPr>
          <p:cNvPr id="14" name="Text 12"/>
          <p:cNvSpPr txBox="1"/>
          <p:nvPr/>
        </p:nvSpPr>
        <p:spPr>
          <a:xfrm>
            <a:off x="6327648" y="2322576"/>
            <a:ext cx="2240280" cy="256032"/>
          </a:xfrm>
          <a:prstGeom prst="rect">
            <a:avLst/>
          </a:prstGeom>
          <a:noFill/>
          <a:ln/>
        </p:spPr>
        <p:txBody>
          <a:bodyPr wrap="square" lIns="0" tIns="0" rIns="0" bIns="0" rtlCol="0" anchor="ctr"/>
          <a:lstStyle/>
          <a:p>
            <a:pPr indent="0" marL="0">
              <a:buNone/>
            </a:pPr>
            <a:r>
              <a:rPr lang="en-US" sz="1150" b="1" dirty="0">
                <a:solidFill>
                  <a:srgbClr val="E9EFF6"/>
                </a:solidFill>
                <a:latin typeface="Calibri" pitchFamily="34" charset="0"/>
                <a:ea typeface="Calibri" pitchFamily="34" charset="-122"/>
                <a:cs typeface="Calibri" pitchFamily="34" charset="-120"/>
              </a:rPr>
              <a:t>tests passing</a:t>
            </a:r>
            <a:endParaRPr lang="en-US" sz="1150" dirty="0"/>
          </a:p>
        </p:txBody>
      </p:sp>
      <p:sp>
        <p:nvSpPr>
          <p:cNvPr id="15" name="Text 13"/>
          <p:cNvSpPr txBox="1"/>
          <p:nvPr/>
        </p:nvSpPr>
        <p:spPr>
          <a:xfrm>
            <a:off x="6327648" y="2578608"/>
            <a:ext cx="2240280" cy="548640"/>
          </a:xfrm>
          <a:prstGeom prst="rect">
            <a:avLst/>
          </a:prstGeom>
          <a:noFill/>
          <a:ln/>
        </p:spPr>
        <p:txBody>
          <a:bodyPr wrap="square" lIns="0" tIns="0" rIns="0" bIns="0" rtlCol="0" anchor="ctr"/>
          <a:lstStyle/>
          <a:p>
            <a:pPr indent="0" marL="0">
              <a:buNone/>
            </a:pPr>
            <a:r>
              <a:rPr lang="en-US" sz="950" dirty="0">
                <a:solidFill>
                  <a:srgbClr val="93A4B8"/>
                </a:solidFill>
                <a:latin typeface="Calibri" pitchFamily="34" charset="0"/>
                <a:ea typeface="Calibri" pitchFamily="34" charset="-122"/>
                <a:cs typeface="Calibri" pitchFamily="34" charset="-120"/>
              </a:rPr>
              <a:t>redaction, parsing, verdicts, learning, bulk, SSH</a:t>
            </a:r>
            <a:endParaRPr lang="en-US" sz="950" dirty="0"/>
          </a:p>
        </p:txBody>
      </p:sp>
      <p:sp>
        <p:nvSpPr>
          <p:cNvPr id="16" name="Shape 14"/>
          <p:cNvSpPr/>
          <p:nvPr/>
        </p:nvSpPr>
        <p:spPr>
          <a:xfrm>
            <a:off x="8933688" y="1627632"/>
            <a:ext cx="2569464" cy="1572768"/>
          </a:xfrm>
          <a:prstGeom prst="roundRect">
            <a:avLst>
              <a:gd name="adj" fmla="val 3488"/>
            </a:avLst>
          </a:prstGeom>
          <a:solidFill>
            <a:srgbClr val="18222E"/>
          </a:solidFill>
          <a:ln w="12700">
            <a:solidFill>
              <a:srgbClr val="2B3A4C"/>
            </a:solidFill>
            <a:prstDash val="solid"/>
          </a:ln>
        </p:spPr>
      </p:sp>
      <p:sp>
        <p:nvSpPr>
          <p:cNvPr id="17" name="Text 15"/>
          <p:cNvSpPr txBox="1"/>
          <p:nvPr/>
        </p:nvSpPr>
        <p:spPr>
          <a:xfrm>
            <a:off x="9116568" y="1755648"/>
            <a:ext cx="2240280" cy="566928"/>
          </a:xfrm>
          <a:prstGeom prst="rect">
            <a:avLst/>
          </a:prstGeom>
          <a:noFill/>
          <a:ln/>
        </p:spPr>
        <p:txBody>
          <a:bodyPr wrap="square" lIns="0" tIns="0" rIns="0" bIns="0" rtlCol="0" anchor="ctr"/>
          <a:lstStyle/>
          <a:p>
            <a:pPr indent="0" marL="0">
              <a:buNone/>
            </a:pPr>
            <a:r>
              <a:rPr lang="en-US" sz="3400" b="1" dirty="0">
                <a:solidFill>
                  <a:srgbClr val="4C9AFF"/>
                </a:solidFill>
                <a:latin typeface="Cambria" pitchFamily="34" charset="0"/>
                <a:ea typeface="Cambria" pitchFamily="34" charset="-122"/>
                <a:cs typeface="Cambria" pitchFamily="34" charset="-120"/>
              </a:rPr>
              <a:t>≤13 ms</a:t>
            </a:r>
            <a:endParaRPr lang="en-US" sz="3400" dirty="0"/>
          </a:p>
        </p:txBody>
      </p:sp>
      <p:sp>
        <p:nvSpPr>
          <p:cNvPr id="18" name="Text 16"/>
          <p:cNvSpPr txBox="1"/>
          <p:nvPr/>
        </p:nvSpPr>
        <p:spPr>
          <a:xfrm>
            <a:off x="9116568" y="2322576"/>
            <a:ext cx="2240280" cy="256032"/>
          </a:xfrm>
          <a:prstGeom prst="rect">
            <a:avLst/>
          </a:prstGeom>
          <a:noFill/>
          <a:ln/>
        </p:spPr>
        <p:txBody>
          <a:bodyPr wrap="square" lIns="0" tIns="0" rIns="0" bIns="0" rtlCol="0" anchor="ctr"/>
          <a:lstStyle/>
          <a:p>
            <a:pPr indent="0" marL="0">
              <a:buNone/>
            </a:pPr>
            <a:r>
              <a:rPr lang="en-US" sz="1150" b="1" dirty="0">
                <a:solidFill>
                  <a:srgbClr val="E9EFF6"/>
                </a:solidFill>
                <a:latin typeface="Calibri" pitchFamily="34" charset="0"/>
                <a:ea typeface="Calibri" pitchFamily="34" charset="-122"/>
                <a:cs typeface="Calibri" pitchFamily="34" charset="-120"/>
              </a:rPr>
              <a:t>per device</a:t>
            </a:r>
            <a:endParaRPr lang="en-US" sz="1150" dirty="0"/>
          </a:p>
        </p:txBody>
      </p:sp>
      <p:sp>
        <p:nvSpPr>
          <p:cNvPr id="19" name="Text 17"/>
          <p:cNvSpPr txBox="1"/>
          <p:nvPr/>
        </p:nvSpPr>
        <p:spPr>
          <a:xfrm>
            <a:off x="9116568" y="2578608"/>
            <a:ext cx="2240280" cy="548640"/>
          </a:xfrm>
          <a:prstGeom prst="rect">
            <a:avLst/>
          </a:prstGeom>
          <a:noFill/>
          <a:ln/>
        </p:spPr>
        <p:txBody>
          <a:bodyPr wrap="square" lIns="0" tIns="0" rIns="0" bIns="0" rtlCol="0" anchor="ctr"/>
          <a:lstStyle/>
          <a:p>
            <a:pPr indent="0" marL="0">
              <a:buNone/>
            </a:pPr>
            <a:r>
              <a:rPr lang="en-US" sz="950" dirty="0">
                <a:solidFill>
                  <a:srgbClr val="93A4B8"/>
                </a:solidFill>
                <a:latin typeface="Calibri" pitchFamily="34" charset="0"/>
                <a:ea typeface="Calibri" pitchFamily="34" charset="-122"/>
                <a:cs typeface="Calibri" pitchFamily="34" charset="-120"/>
              </a:rPr>
              <a:t>ingest to verdict, deterministic path</a:t>
            </a:r>
            <a:endParaRPr lang="en-US" sz="950" dirty="0"/>
          </a:p>
        </p:txBody>
      </p:sp>
      <p:sp>
        <p:nvSpPr>
          <p:cNvPr id="20" name="Shape 18"/>
          <p:cNvSpPr/>
          <p:nvPr/>
        </p:nvSpPr>
        <p:spPr>
          <a:xfrm>
            <a:off x="566928" y="3401568"/>
            <a:ext cx="6858000" cy="2121408"/>
          </a:xfrm>
          <a:prstGeom prst="roundRect">
            <a:avLst>
              <a:gd name="adj" fmla="val 2586"/>
            </a:avLst>
          </a:prstGeom>
          <a:solidFill>
            <a:srgbClr val="18222E"/>
          </a:solidFill>
          <a:ln w="12700">
            <a:solidFill>
              <a:srgbClr val="2B3A4C"/>
            </a:solidFill>
            <a:prstDash val="solid"/>
          </a:ln>
        </p:spPr>
      </p:sp>
      <p:sp>
        <p:nvSpPr>
          <p:cNvPr id="21" name="Text 19"/>
          <p:cNvSpPr txBox="1"/>
          <p:nvPr/>
        </p:nvSpPr>
        <p:spPr>
          <a:xfrm>
            <a:off x="768096" y="3529584"/>
            <a:ext cx="1828800" cy="237744"/>
          </a:xfrm>
          <a:prstGeom prst="rect">
            <a:avLst/>
          </a:prstGeom>
          <a:noFill/>
          <a:ln/>
        </p:spPr>
        <p:txBody>
          <a:bodyPr wrap="square" lIns="0" tIns="0" rIns="0" bIns="0" rtlCol="0" anchor="ctr"/>
          <a:lstStyle/>
          <a:p>
            <a:pPr indent="0" marL="0">
              <a:buNone/>
            </a:pPr>
            <a:r>
              <a:rPr lang="en-US" sz="900" b="1" dirty="0">
                <a:solidFill>
                  <a:srgbClr val="64768C"/>
                </a:solidFill>
                <a:latin typeface="Calibri" pitchFamily="34" charset="0"/>
                <a:ea typeface="Calibri" pitchFamily="34" charset="-122"/>
                <a:cs typeface="Calibri" pitchFamily="34" charset="-120"/>
              </a:rPr>
              <a:t>Vendor</a:t>
            </a:r>
            <a:endParaRPr lang="en-US" sz="900" dirty="0"/>
          </a:p>
        </p:txBody>
      </p:sp>
      <p:sp>
        <p:nvSpPr>
          <p:cNvPr id="22" name="Text 20"/>
          <p:cNvSpPr txBox="1"/>
          <p:nvPr/>
        </p:nvSpPr>
        <p:spPr>
          <a:xfrm>
            <a:off x="2670048" y="3529584"/>
            <a:ext cx="1828800" cy="237744"/>
          </a:xfrm>
          <a:prstGeom prst="rect">
            <a:avLst/>
          </a:prstGeom>
          <a:noFill/>
          <a:ln/>
        </p:spPr>
        <p:txBody>
          <a:bodyPr wrap="square" lIns="0" tIns="0" rIns="0" bIns="0" rtlCol="0" anchor="ctr"/>
          <a:lstStyle/>
          <a:p>
            <a:pPr indent="0" marL="0">
              <a:buNone/>
            </a:pPr>
            <a:r>
              <a:rPr lang="en-US" sz="900" b="1" dirty="0">
                <a:solidFill>
                  <a:srgbClr val="64768C"/>
                </a:solidFill>
                <a:latin typeface="Calibri" pitchFamily="34" charset="0"/>
                <a:ea typeface="Calibri" pitchFamily="34" charset="-122"/>
                <a:cs typeface="Calibri" pitchFamily="34" charset="-120"/>
              </a:rPr>
              <a:t>Device</a:t>
            </a:r>
            <a:endParaRPr lang="en-US" sz="900" dirty="0"/>
          </a:p>
        </p:txBody>
      </p:sp>
      <p:sp>
        <p:nvSpPr>
          <p:cNvPr id="23" name="Text 21"/>
          <p:cNvSpPr txBox="1"/>
          <p:nvPr/>
        </p:nvSpPr>
        <p:spPr>
          <a:xfrm>
            <a:off x="4544568" y="3529584"/>
            <a:ext cx="1828800" cy="237744"/>
          </a:xfrm>
          <a:prstGeom prst="rect">
            <a:avLst/>
          </a:prstGeom>
          <a:noFill/>
          <a:ln/>
        </p:spPr>
        <p:txBody>
          <a:bodyPr wrap="square" lIns="0" tIns="0" rIns="0" bIns="0" rtlCol="0" anchor="ctr"/>
          <a:lstStyle/>
          <a:p>
            <a:pPr indent="0" marL="0">
              <a:buNone/>
            </a:pPr>
            <a:r>
              <a:rPr lang="en-US" sz="900" b="1" dirty="0">
                <a:solidFill>
                  <a:srgbClr val="64768C"/>
                </a:solidFill>
                <a:latin typeface="Calibri" pitchFamily="34" charset="0"/>
                <a:ea typeface="Calibri" pitchFamily="34" charset="-122"/>
                <a:cs typeface="Calibri" pitchFamily="34" charset="-120"/>
              </a:rPr>
              <a:t>Detection</a:t>
            </a:r>
            <a:endParaRPr lang="en-US" sz="900" dirty="0"/>
          </a:p>
        </p:txBody>
      </p:sp>
      <p:sp>
        <p:nvSpPr>
          <p:cNvPr id="24" name="Text 22"/>
          <p:cNvSpPr txBox="1"/>
          <p:nvPr/>
        </p:nvSpPr>
        <p:spPr>
          <a:xfrm>
            <a:off x="5916168" y="3529584"/>
            <a:ext cx="1828800" cy="237744"/>
          </a:xfrm>
          <a:prstGeom prst="rect">
            <a:avLst/>
          </a:prstGeom>
          <a:noFill/>
          <a:ln/>
        </p:spPr>
        <p:txBody>
          <a:bodyPr wrap="square" lIns="0" tIns="0" rIns="0" bIns="0" rtlCol="0" anchor="ctr"/>
          <a:lstStyle/>
          <a:p>
            <a:pPr indent="0" marL="0">
              <a:buNone/>
            </a:pPr>
            <a:r>
              <a:rPr lang="en-US" sz="900" b="1" dirty="0">
                <a:solidFill>
                  <a:srgbClr val="64768C"/>
                </a:solidFill>
                <a:latin typeface="Calibri" pitchFamily="34" charset="0"/>
                <a:ea typeface="Calibri" pitchFamily="34" charset="-122"/>
                <a:cs typeface="Calibri" pitchFamily="34" charset="-120"/>
              </a:rPr>
              <a:t>Coverage</a:t>
            </a:r>
            <a:endParaRPr lang="en-US" sz="900" dirty="0"/>
          </a:p>
        </p:txBody>
      </p:sp>
      <p:sp>
        <p:nvSpPr>
          <p:cNvPr id="25" name="Text 23"/>
          <p:cNvSpPr txBox="1"/>
          <p:nvPr/>
        </p:nvSpPr>
        <p:spPr>
          <a:xfrm>
            <a:off x="768096" y="3785616"/>
            <a:ext cx="1737360" cy="256032"/>
          </a:xfrm>
          <a:prstGeom prst="rect">
            <a:avLst/>
          </a:prstGeom>
          <a:noFill/>
          <a:ln/>
        </p:spPr>
        <p:txBody>
          <a:bodyPr wrap="square" lIns="0" tIns="0" rIns="0" bIns="0" rtlCol="0" anchor="ctr"/>
          <a:lstStyle/>
          <a:p>
            <a:pPr indent="0" marL="0">
              <a:buNone/>
            </a:pPr>
            <a:r>
              <a:rPr lang="en-US" sz="950" dirty="0">
                <a:solidFill>
                  <a:srgbClr val="E9EFF6"/>
                </a:solidFill>
                <a:latin typeface="Calibri" pitchFamily="34" charset="0"/>
                <a:ea typeface="Calibri" pitchFamily="34" charset="-122"/>
                <a:cs typeface="Calibri" pitchFamily="34" charset="-120"/>
              </a:rPr>
              <a:t>Cisco IOS-XE</a:t>
            </a:r>
            <a:endParaRPr lang="en-US" sz="950" dirty="0"/>
          </a:p>
        </p:txBody>
      </p:sp>
      <p:sp>
        <p:nvSpPr>
          <p:cNvPr id="26" name="Text 24"/>
          <p:cNvSpPr txBox="1"/>
          <p:nvPr/>
        </p:nvSpPr>
        <p:spPr>
          <a:xfrm>
            <a:off x="2670048" y="3785616"/>
            <a:ext cx="1828800" cy="256032"/>
          </a:xfrm>
          <a:prstGeom prst="rect">
            <a:avLst/>
          </a:prstGeom>
          <a:noFill/>
          <a:ln/>
        </p:spPr>
        <p:txBody>
          <a:bodyPr wrap="square" lIns="0" tIns="0" rIns="0" bIns="0" rtlCol="0" anchor="ctr"/>
          <a:lstStyle/>
          <a:p>
            <a:pPr indent="0" marL="0">
              <a:buNone/>
            </a:pPr>
            <a:r>
              <a:rPr lang="en-US" sz="950" dirty="0">
                <a:solidFill>
                  <a:srgbClr val="93A4B8"/>
                </a:solidFill>
                <a:latin typeface="Calibri" pitchFamily="34" charset="0"/>
                <a:ea typeface="Calibri" pitchFamily="34" charset="-122"/>
                <a:cs typeface="Calibri" pitchFamily="34" charset="-120"/>
              </a:rPr>
              <a:t>Catalyst 9300</a:t>
            </a:r>
            <a:endParaRPr lang="en-US" sz="950" dirty="0"/>
          </a:p>
        </p:txBody>
      </p:sp>
      <p:sp>
        <p:nvSpPr>
          <p:cNvPr id="27" name="Text 25"/>
          <p:cNvSpPr txBox="1"/>
          <p:nvPr/>
        </p:nvSpPr>
        <p:spPr>
          <a:xfrm>
            <a:off x="4544568" y="3785616"/>
            <a:ext cx="1737360" cy="256032"/>
          </a:xfrm>
          <a:prstGeom prst="rect">
            <a:avLst/>
          </a:prstGeom>
          <a:noFill/>
          <a:ln/>
        </p:spPr>
        <p:txBody>
          <a:bodyPr wrap="square" lIns="0" tIns="0" rIns="0" bIns="0" rtlCol="0" anchor="ctr"/>
          <a:lstStyle/>
          <a:p>
            <a:pPr indent="0" marL="0">
              <a:buNone/>
            </a:pPr>
            <a:r>
              <a:rPr lang="en-US" sz="950" dirty="0">
                <a:solidFill>
                  <a:srgbClr val="93A4B8"/>
                </a:solidFill>
                <a:latin typeface="Consolas" pitchFamily="34" charset="0"/>
                <a:ea typeface="Consolas" pitchFamily="34" charset="-122"/>
                <a:cs typeface="Consolas" pitchFamily="34" charset="-120"/>
              </a:rPr>
              <a:t>1.00</a:t>
            </a:r>
            <a:endParaRPr lang="en-US" sz="950" dirty="0"/>
          </a:p>
        </p:txBody>
      </p:sp>
      <p:sp>
        <p:nvSpPr>
          <p:cNvPr id="28" name="Text 26"/>
          <p:cNvSpPr txBox="1"/>
          <p:nvPr/>
        </p:nvSpPr>
        <p:spPr>
          <a:xfrm>
            <a:off x="5916168" y="3785616"/>
            <a:ext cx="1737360" cy="256032"/>
          </a:xfrm>
          <a:prstGeom prst="rect">
            <a:avLst/>
          </a:prstGeom>
          <a:noFill/>
          <a:ln/>
        </p:spPr>
        <p:txBody>
          <a:bodyPr wrap="square" lIns="0" tIns="0" rIns="0" bIns="0" rtlCol="0" anchor="ctr"/>
          <a:lstStyle/>
          <a:p>
            <a:pPr indent="0" marL="0">
              <a:buNone/>
            </a:pPr>
            <a:r>
              <a:rPr lang="en-US" sz="950" dirty="0">
                <a:solidFill>
                  <a:srgbClr val="35D0A5"/>
                </a:solidFill>
                <a:latin typeface="Consolas" pitchFamily="34" charset="0"/>
                <a:ea typeface="Consolas" pitchFamily="34" charset="-122"/>
                <a:cs typeface="Consolas" pitchFamily="34" charset="-120"/>
              </a:rPr>
              <a:t>68%</a:t>
            </a:r>
            <a:endParaRPr lang="en-US" sz="950" dirty="0"/>
          </a:p>
        </p:txBody>
      </p:sp>
      <p:sp>
        <p:nvSpPr>
          <p:cNvPr id="29" name="Text 27"/>
          <p:cNvSpPr txBox="1"/>
          <p:nvPr/>
        </p:nvSpPr>
        <p:spPr>
          <a:xfrm>
            <a:off x="768096" y="4069080"/>
            <a:ext cx="1737360" cy="256032"/>
          </a:xfrm>
          <a:prstGeom prst="rect">
            <a:avLst/>
          </a:prstGeom>
          <a:noFill/>
          <a:ln/>
        </p:spPr>
        <p:txBody>
          <a:bodyPr wrap="square" lIns="0" tIns="0" rIns="0" bIns="0" rtlCol="0" anchor="ctr"/>
          <a:lstStyle/>
          <a:p>
            <a:pPr indent="0" marL="0">
              <a:buNone/>
            </a:pPr>
            <a:r>
              <a:rPr lang="en-US" sz="950" dirty="0">
                <a:solidFill>
                  <a:srgbClr val="E9EFF6"/>
                </a:solidFill>
                <a:latin typeface="Calibri" pitchFamily="34" charset="0"/>
                <a:ea typeface="Calibri" pitchFamily="34" charset="-122"/>
                <a:cs typeface="Calibri" pitchFamily="34" charset="-120"/>
              </a:rPr>
              <a:t>Juniper Junos</a:t>
            </a:r>
            <a:endParaRPr lang="en-US" sz="950" dirty="0"/>
          </a:p>
        </p:txBody>
      </p:sp>
      <p:sp>
        <p:nvSpPr>
          <p:cNvPr id="30" name="Text 28"/>
          <p:cNvSpPr txBox="1"/>
          <p:nvPr/>
        </p:nvSpPr>
        <p:spPr>
          <a:xfrm>
            <a:off x="2670048" y="4069080"/>
            <a:ext cx="1828800" cy="256032"/>
          </a:xfrm>
          <a:prstGeom prst="rect">
            <a:avLst/>
          </a:prstGeom>
          <a:noFill/>
          <a:ln/>
        </p:spPr>
        <p:txBody>
          <a:bodyPr wrap="square" lIns="0" tIns="0" rIns="0" bIns="0" rtlCol="0" anchor="ctr"/>
          <a:lstStyle/>
          <a:p>
            <a:pPr indent="0" marL="0">
              <a:buNone/>
            </a:pPr>
            <a:r>
              <a:rPr lang="en-US" sz="950" dirty="0">
                <a:solidFill>
                  <a:srgbClr val="93A4B8"/>
                </a:solidFill>
                <a:latin typeface="Calibri" pitchFamily="34" charset="0"/>
                <a:ea typeface="Calibri" pitchFamily="34" charset="-122"/>
                <a:cs typeface="Calibri" pitchFamily="34" charset="-120"/>
              </a:rPr>
              <a:t>SRX 340</a:t>
            </a:r>
            <a:endParaRPr lang="en-US" sz="950" dirty="0"/>
          </a:p>
        </p:txBody>
      </p:sp>
      <p:sp>
        <p:nvSpPr>
          <p:cNvPr id="31" name="Text 29"/>
          <p:cNvSpPr txBox="1"/>
          <p:nvPr/>
        </p:nvSpPr>
        <p:spPr>
          <a:xfrm>
            <a:off x="4544568" y="4069080"/>
            <a:ext cx="1737360" cy="256032"/>
          </a:xfrm>
          <a:prstGeom prst="rect">
            <a:avLst/>
          </a:prstGeom>
          <a:noFill/>
          <a:ln/>
        </p:spPr>
        <p:txBody>
          <a:bodyPr wrap="square" lIns="0" tIns="0" rIns="0" bIns="0" rtlCol="0" anchor="ctr"/>
          <a:lstStyle/>
          <a:p>
            <a:pPr indent="0" marL="0">
              <a:buNone/>
            </a:pPr>
            <a:r>
              <a:rPr lang="en-US" sz="950" dirty="0">
                <a:solidFill>
                  <a:srgbClr val="93A4B8"/>
                </a:solidFill>
                <a:latin typeface="Consolas" pitchFamily="34" charset="0"/>
                <a:ea typeface="Consolas" pitchFamily="34" charset="-122"/>
                <a:cs typeface="Consolas" pitchFamily="34" charset="-120"/>
              </a:rPr>
              <a:t>1.00</a:t>
            </a:r>
            <a:endParaRPr lang="en-US" sz="950" dirty="0"/>
          </a:p>
        </p:txBody>
      </p:sp>
      <p:sp>
        <p:nvSpPr>
          <p:cNvPr id="32" name="Text 30"/>
          <p:cNvSpPr txBox="1"/>
          <p:nvPr/>
        </p:nvSpPr>
        <p:spPr>
          <a:xfrm>
            <a:off x="5916168" y="4069080"/>
            <a:ext cx="1737360" cy="256032"/>
          </a:xfrm>
          <a:prstGeom prst="rect">
            <a:avLst/>
          </a:prstGeom>
          <a:noFill/>
          <a:ln/>
        </p:spPr>
        <p:txBody>
          <a:bodyPr wrap="square" lIns="0" tIns="0" rIns="0" bIns="0" rtlCol="0" anchor="ctr"/>
          <a:lstStyle/>
          <a:p>
            <a:pPr indent="0" marL="0">
              <a:buNone/>
            </a:pPr>
            <a:r>
              <a:rPr lang="en-US" sz="950" dirty="0">
                <a:solidFill>
                  <a:srgbClr val="35D0A5"/>
                </a:solidFill>
                <a:latin typeface="Consolas" pitchFamily="34" charset="0"/>
                <a:ea typeface="Consolas" pitchFamily="34" charset="-122"/>
                <a:cs typeface="Consolas" pitchFamily="34" charset="-120"/>
              </a:rPr>
              <a:t>79%</a:t>
            </a:r>
            <a:endParaRPr lang="en-US" sz="950" dirty="0"/>
          </a:p>
        </p:txBody>
      </p:sp>
      <p:sp>
        <p:nvSpPr>
          <p:cNvPr id="33" name="Text 31"/>
          <p:cNvSpPr txBox="1"/>
          <p:nvPr/>
        </p:nvSpPr>
        <p:spPr>
          <a:xfrm>
            <a:off x="768096" y="4352544"/>
            <a:ext cx="1737360" cy="256032"/>
          </a:xfrm>
          <a:prstGeom prst="rect">
            <a:avLst/>
          </a:prstGeom>
          <a:noFill/>
          <a:ln/>
        </p:spPr>
        <p:txBody>
          <a:bodyPr wrap="square" lIns="0" tIns="0" rIns="0" bIns="0" rtlCol="0" anchor="ctr"/>
          <a:lstStyle/>
          <a:p>
            <a:pPr indent="0" marL="0">
              <a:buNone/>
            </a:pPr>
            <a:r>
              <a:rPr lang="en-US" sz="950" dirty="0">
                <a:solidFill>
                  <a:srgbClr val="E9EFF6"/>
                </a:solidFill>
                <a:latin typeface="Calibri" pitchFamily="34" charset="0"/>
                <a:ea typeface="Calibri" pitchFamily="34" charset="-122"/>
                <a:cs typeface="Calibri" pitchFamily="34" charset="-120"/>
              </a:rPr>
              <a:t>Fortinet FortiOS</a:t>
            </a:r>
            <a:endParaRPr lang="en-US" sz="950" dirty="0"/>
          </a:p>
        </p:txBody>
      </p:sp>
      <p:sp>
        <p:nvSpPr>
          <p:cNvPr id="34" name="Text 32"/>
          <p:cNvSpPr txBox="1"/>
          <p:nvPr/>
        </p:nvSpPr>
        <p:spPr>
          <a:xfrm>
            <a:off x="2670048" y="4352544"/>
            <a:ext cx="1828800" cy="256032"/>
          </a:xfrm>
          <a:prstGeom prst="rect">
            <a:avLst/>
          </a:prstGeom>
          <a:noFill/>
          <a:ln/>
        </p:spPr>
        <p:txBody>
          <a:bodyPr wrap="square" lIns="0" tIns="0" rIns="0" bIns="0" rtlCol="0" anchor="ctr"/>
          <a:lstStyle/>
          <a:p>
            <a:pPr indent="0" marL="0">
              <a:buNone/>
            </a:pPr>
            <a:r>
              <a:rPr lang="en-US" sz="950" dirty="0">
                <a:solidFill>
                  <a:srgbClr val="93A4B8"/>
                </a:solidFill>
                <a:latin typeface="Calibri" pitchFamily="34" charset="0"/>
                <a:ea typeface="Calibri" pitchFamily="34" charset="-122"/>
                <a:cs typeface="Calibri" pitchFamily="34" charset="-120"/>
              </a:rPr>
              <a:t>FortiGate 100F</a:t>
            </a:r>
            <a:endParaRPr lang="en-US" sz="950" dirty="0"/>
          </a:p>
        </p:txBody>
      </p:sp>
      <p:sp>
        <p:nvSpPr>
          <p:cNvPr id="35" name="Text 33"/>
          <p:cNvSpPr txBox="1"/>
          <p:nvPr/>
        </p:nvSpPr>
        <p:spPr>
          <a:xfrm>
            <a:off x="4544568" y="4352544"/>
            <a:ext cx="1737360" cy="256032"/>
          </a:xfrm>
          <a:prstGeom prst="rect">
            <a:avLst/>
          </a:prstGeom>
          <a:noFill/>
          <a:ln/>
        </p:spPr>
        <p:txBody>
          <a:bodyPr wrap="square" lIns="0" tIns="0" rIns="0" bIns="0" rtlCol="0" anchor="ctr"/>
          <a:lstStyle/>
          <a:p>
            <a:pPr indent="0" marL="0">
              <a:buNone/>
            </a:pPr>
            <a:r>
              <a:rPr lang="en-US" sz="950" dirty="0">
                <a:solidFill>
                  <a:srgbClr val="93A4B8"/>
                </a:solidFill>
                <a:latin typeface="Consolas" pitchFamily="34" charset="0"/>
                <a:ea typeface="Consolas" pitchFamily="34" charset="-122"/>
                <a:cs typeface="Consolas" pitchFamily="34" charset="-120"/>
              </a:rPr>
              <a:t>1.00</a:t>
            </a:r>
            <a:endParaRPr lang="en-US" sz="950" dirty="0"/>
          </a:p>
        </p:txBody>
      </p:sp>
      <p:sp>
        <p:nvSpPr>
          <p:cNvPr id="36" name="Text 34"/>
          <p:cNvSpPr txBox="1"/>
          <p:nvPr/>
        </p:nvSpPr>
        <p:spPr>
          <a:xfrm>
            <a:off x="5916168" y="4352544"/>
            <a:ext cx="1737360" cy="256032"/>
          </a:xfrm>
          <a:prstGeom prst="rect">
            <a:avLst/>
          </a:prstGeom>
          <a:noFill/>
          <a:ln/>
        </p:spPr>
        <p:txBody>
          <a:bodyPr wrap="square" lIns="0" tIns="0" rIns="0" bIns="0" rtlCol="0" anchor="ctr"/>
          <a:lstStyle/>
          <a:p>
            <a:pPr indent="0" marL="0">
              <a:buNone/>
            </a:pPr>
            <a:r>
              <a:rPr lang="en-US" sz="950" dirty="0">
                <a:solidFill>
                  <a:srgbClr val="35D0A5"/>
                </a:solidFill>
                <a:latin typeface="Consolas" pitchFamily="34" charset="0"/>
                <a:ea typeface="Consolas" pitchFamily="34" charset="-122"/>
                <a:cs typeface="Consolas" pitchFamily="34" charset="-120"/>
              </a:rPr>
              <a:t>100%</a:t>
            </a:r>
            <a:endParaRPr lang="en-US" sz="950" dirty="0"/>
          </a:p>
        </p:txBody>
      </p:sp>
      <p:sp>
        <p:nvSpPr>
          <p:cNvPr id="37" name="Text 35"/>
          <p:cNvSpPr txBox="1"/>
          <p:nvPr/>
        </p:nvSpPr>
        <p:spPr>
          <a:xfrm>
            <a:off x="768096" y="4636008"/>
            <a:ext cx="1737360" cy="256032"/>
          </a:xfrm>
          <a:prstGeom prst="rect">
            <a:avLst/>
          </a:prstGeom>
          <a:noFill/>
          <a:ln/>
        </p:spPr>
        <p:txBody>
          <a:bodyPr wrap="square" lIns="0" tIns="0" rIns="0" bIns="0" rtlCol="0" anchor="ctr"/>
          <a:lstStyle/>
          <a:p>
            <a:pPr indent="0" marL="0">
              <a:buNone/>
            </a:pPr>
            <a:r>
              <a:rPr lang="en-US" sz="950" dirty="0">
                <a:solidFill>
                  <a:srgbClr val="E9EFF6"/>
                </a:solidFill>
                <a:latin typeface="Calibri" pitchFamily="34" charset="0"/>
                <a:ea typeface="Calibri" pitchFamily="34" charset="-122"/>
                <a:cs typeface="Calibri" pitchFamily="34" charset="-120"/>
              </a:rPr>
              <a:t>Palo Alto PAN-OS</a:t>
            </a:r>
            <a:endParaRPr lang="en-US" sz="950" dirty="0"/>
          </a:p>
        </p:txBody>
      </p:sp>
      <p:sp>
        <p:nvSpPr>
          <p:cNvPr id="38" name="Text 36"/>
          <p:cNvSpPr txBox="1"/>
          <p:nvPr/>
        </p:nvSpPr>
        <p:spPr>
          <a:xfrm>
            <a:off x="2670048" y="4636008"/>
            <a:ext cx="1828800" cy="256032"/>
          </a:xfrm>
          <a:prstGeom prst="rect">
            <a:avLst/>
          </a:prstGeom>
          <a:noFill/>
          <a:ln/>
        </p:spPr>
        <p:txBody>
          <a:bodyPr wrap="square" lIns="0" tIns="0" rIns="0" bIns="0" rtlCol="0" anchor="ctr"/>
          <a:lstStyle/>
          <a:p>
            <a:pPr indent="0" marL="0">
              <a:buNone/>
            </a:pPr>
            <a:r>
              <a:rPr lang="en-US" sz="950" dirty="0">
                <a:solidFill>
                  <a:srgbClr val="93A4B8"/>
                </a:solidFill>
                <a:latin typeface="Calibri" pitchFamily="34" charset="0"/>
                <a:ea typeface="Calibri" pitchFamily="34" charset="-122"/>
                <a:cs typeface="Calibri" pitchFamily="34" charset="-120"/>
              </a:rPr>
              <a:t>PA-3220</a:t>
            </a:r>
            <a:endParaRPr lang="en-US" sz="950" dirty="0"/>
          </a:p>
        </p:txBody>
      </p:sp>
      <p:sp>
        <p:nvSpPr>
          <p:cNvPr id="39" name="Text 37"/>
          <p:cNvSpPr txBox="1"/>
          <p:nvPr/>
        </p:nvSpPr>
        <p:spPr>
          <a:xfrm>
            <a:off x="4544568" y="4636008"/>
            <a:ext cx="1737360" cy="256032"/>
          </a:xfrm>
          <a:prstGeom prst="rect">
            <a:avLst/>
          </a:prstGeom>
          <a:noFill/>
          <a:ln/>
        </p:spPr>
        <p:txBody>
          <a:bodyPr wrap="square" lIns="0" tIns="0" rIns="0" bIns="0" rtlCol="0" anchor="ctr"/>
          <a:lstStyle/>
          <a:p>
            <a:pPr indent="0" marL="0">
              <a:buNone/>
            </a:pPr>
            <a:r>
              <a:rPr lang="en-US" sz="950" dirty="0">
                <a:solidFill>
                  <a:srgbClr val="93A4B8"/>
                </a:solidFill>
                <a:latin typeface="Consolas" pitchFamily="34" charset="0"/>
                <a:ea typeface="Consolas" pitchFamily="34" charset="-122"/>
                <a:cs typeface="Consolas" pitchFamily="34" charset="-120"/>
              </a:rPr>
              <a:t>1.00</a:t>
            </a:r>
            <a:endParaRPr lang="en-US" sz="950" dirty="0"/>
          </a:p>
        </p:txBody>
      </p:sp>
      <p:sp>
        <p:nvSpPr>
          <p:cNvPr id="40" name="Text 38"/>
          <p:cNvSpPr txBox="1"/>
          <p:nvPr/>
        </p:nvSpPr>
        <p:spPr>
          <a:xfrm>
            <a:off x="5916168" y="4636008"/>
            <a:ext cx="1737360" cy="256032"/>
          </a:xfrm>
          <a:prstGeom prst="rect">
            <a:avLst/>
          </a:prstGeom>
          <a:noFill/>
          <a:ln/>
        </p:spPr>
        <p:txBody>
          <a:bodyPr wrap="square" lIns="0" tIns="0" rIns="0" bIns="0" rtlCol="0" anchor="ctr"/>
          <a:lstStyle/>
          <a:p>
            <a:pPr indent="0" marL="0">
              <a:buNone/>
            </a:pPr>
            <a:r>
              <a:rPr lang="en-US" sz="950" dirty="0">
                <a:solidFill>
                  <a:srgbClr val="35D0A5"/>
                </a:solidFill>
                <a:latin typeface="Consolas" pitchFamily="34" charset="0"/>
                <a:ea typeface="Consolas" pitchFamily="34" charset="-122"/>
                <a:cs typeface="Consolas" pitchFamily="34" charset="-120"/>
              </a:rPr>
              <a:t>94%</a:t>
            </a:r>
            <a:endParaRPr lang="en-US" sz="950" dirty="0"/>
          </a:p>
        </p:txBody>
      </p:sp>
      <p:sp>
        <p:nvSpPr>
          <p:cNvPr id="41" name="Text 39"/>
          <p:cNvSpPr txBox="1"/>
          <p:nvPr/>
        </p:nvSpPr>
        <p:spPr>
          <a:xfrm>
            <a:off x="768096" y="4919472"/>
            <a:ext cx="1737360" cy="256032"/>
          </a:xfrm>
          <a:prstGeom prst="rect">
            <a:avLst/>
          </a:prstGeom>
          <a:noFill/>
          <a:ln/>
        </p:spPr>
        <p:txBody>
          <a:bodyPr wrap="square" lIns="0" tIns="0" rIns="0" bIns="0" rtlCol="0" anchor="ctr"/>
          <a:lstStyle/>
          <a:p>
            <a:pPr indent="0" marL="0">
              <a:buNone/>
            </a:pPr>
            <a:r>
              <a:rPr lang="en-US" sz="950" dirty="0">
                <a:solidFill>
                  <a:srgbClr val="E9EFF6"/>
                </a:solidFill>
                <a:latin typeface="Calibri" pitchFamily="34" charset="0"/>
                <a:ea typeface="Calibri" pitchFamily="34" charset="-122"/>
                <a:cs typeface="Calibri" pitchFamily="34" charset="-120"/>
              </a:rPr>
              <a:t>AWS Security Group</a:t>
            </a:r>
            <a:endParaRPr lang="en-US" sz="950" dirty="0"/>
          </a:p>
        </p:txBody>
      </p:sp>
      <p:sp>
        <p:nvSpPr>
          <p:cNvPr id="42" name="Text 40"/>
          <p:cNvSpPr txBox="1"/>
          <p:nvPr/>
        </p:nvSpPr>
        <p:spPr>
          <a:xfrm>
            <a:off x="2670048" y="4919472"/>
            <a:ext cx="1828800" cy="256032"/>
          </a:xfrm>
          <a:prstGeom prst="rect">
            <a:avLst/>
          </a:prstGeom>
          <a:noFill/>
          <a:ln/>
        </p:spPr>
        <p:txBody>
          <a:bodyPr wrap="square" lIns="0" tIns="0" rIns="0" bIns="0" rtlCol="0" anchor="ctr"/>
          <a:lstStyle/>
          <a:p>
            <a:pPr indent="0" marL="0">
              <a:buNone/>
            </a:pPr>
            <a:r>
              <a:rPr lang="en-US" sz="950" dirty="0">
                <a:solidFill>
                  <a:srgbClr val="93A4B8"/>
                </a:solidFill>
                <a:latin typeface="Calibri" pitchFamily="34" charset="0"/>
                <a:ea typeface="Calibri" pitchFamily="34" charset="-122"/>
                <a:cs typeface="Calibri" pitchFamily="34" charset="-120"/>
              </a:rPr>
              <a:t>JSON, not a CLI</a:t>
            </a:r>
            <a:endParaRPr lang="en-US" sz="950" dirty="0"/>
          </a:p>
        </p:txBody>
      </p:sp>
      <p:sp>
        <p:nvSpPr>
          <p:cNvPr id="43" name="Text 41"/>
          <p:cNvSpPr txBox="1"/>
          <p:nvPr/>
        </p:nvSpPr>
        <p:spPr>
          <a:xfrm>
            <a:off x="4544568" y="4919472"/>
            <a:ext cx="1737360" cy="256032"/>
          </a:xfrm>
          <a:prstGeom prst="rect">
            <a:avLst/>
          </a:prstGeom>
          <a:noFill/>
          <a:ln/>
        </p:spPr>
        <p:txBody>
          <a:bodyPr wrap="square" lIns="0" tIns="0" rIns="0" bIns="0" rtlCol="0" anchor="ctr"/>
          <a:lstStyle/>
          <a:p>
            <a:pPr indent="0" marL="0">
              <a:buNone/>
            </a:pPr>
            <a:r>
              <a:rPr lang="en-US" sz="950" dirty="0">
                <a:solidFill>
                  <a:srgbClr val="93A4B8"/>
                </a:solidFill>
                <a:latin typeface="Consolas" pitchFamily="34" charset="0"/>
                <a:ea typeface="Consolas" pitchFamily="34" charset="-122"/>
                <a:cs typeface="Consolas" pitchFamily="34" charset="-120"/>
              </a:rPr>
              <a:t>1.00</a:t>
            </a:r>
            <a:endParaRPr lang="en-US" sz="950" dirty="0"/>
          </a:p>
        </p:txBody>
      </p:sp>
      <p:sp>
        <p:nvSpPr>
          <p:cNvPr id="44" name="Text 42"/>
          <p:cNvSpPr txBox="1"/>
          <p:nvPr/>
        </p:nvSpPr>
        <p:spPr>
          <a:xfrm>
            <a:off x="5916168" y="4919472"/>
            <a:ext cx="1737360" cy="256032"/>
          </a:xfrm>
          <a:prstGeom prst="rect">
            <a:avLst/>
          </a:prstGeom>
          <a:noFill/>
          <a:ln/>
        </p:spPr>
        <p:txBody>
          <a:bodyPr wrap="square" lIns="0" tIns="0" rIns="0" bIns="0" rtlCol="0" anchor="ctr"/>
          <a:lstStyle/>
          <a:p>
            <a:pPr indent="0" marL="0">
              <a:buNone/>
            </a:pPr>
            <a:r>
              <a:rPr lang="en-US" sz="950" dirty="0">
                <a:solidFill>
                  <a:srgbClr val="35D0A5"/>
                </a:solidFill>
                <a:latin typeface="Consolas" pitchFamily="34" charset="0"/>
                <a:ea typeface="Consolas" pitchFamily="34" charset="-122"/>
                <a:cs typeface="Consolas" pitchFamily="34" charset="-120"/>
              </a:rPr>
              <a:t>100% · 21 N/A</a:t>
            </a:r>
            <a:endParaRPr lang="en-US" sz="950" dirty="0"/>
          </a:p>
        </p:txBody>
      </p:sp>
      <p:sp>
        <p:nvSpPr>
          <p:cNvPr id="45" name="Text 43"/>
          <p:cNvSpPr txBox="1"/>
          <p:nvPr/>
        </p:nvSpPr>
        <p:spPr>
          <a:xfrm>
            <a:off x="768096" y="5202936"/>
            <a:ext cx="1737360" cy="256032"/>
          </a:xfrm>
          <a:prstGeom prst="rect">
            <a:avLst/>
          </a:prstGeom>
          <a:noFill/>
          <a:ln/>
        </p:spPr>
        <p:txBody>
          <a:bodyPr wrap="square" lIns="0" tIns="0" rIns="0" bIns="0" rtlCol="0" anchor="ctr"/>
          <a:lstStyle/>
          <a:p>
            <a:pPr indent="0" marL="0">
              <a:buNone/>
            </a:pPr>
            <a:r>
              <a:rPr lang="en-US" sz="950" dirty="0">
                <a:solidFill>
                  <a:srgbClr val="E9EFF6"/>
                </a:solidFill>
                <a:latin typeface="Calibri" pitchFamily="34" charset="0"/>
                <a:ea typeface="Calibri" pitchFamily="34" charset="-122"/>
                <a:cs typeface="Calibri" pitchFamily="34" charset="-120"/>
              </a:rPr>
              <a:t>MikroTik RouterOS</a:t>
            </a:r>
            <a:endParaRPr lang="en-US" sz="950" dirty="0"/>
          </a:p>
        </p:txBody>
      </p:sp>
      <p:sp>
        <p:nvSpPr>
          <p:cNvPr id="46" name="Text 44"/>
          <p:cNvSpPr txBox="1"/>
          <p:nvPr/>
        </p:nvSpPr>
        <p:spPr>
          <a:xfrm>
            <a:off x="2670048" y="5202936"/>
            <a:ext cx="1828800" cy="256032"/>
          </a:xfrm>
          <a:prstGeom prst="rect">
            <a:avLst/>
          </a:prstGeom>
          <a:noFill/>
          <a:ln/>
        </p:spPr>
        <p:txBody>
          <a:bodyPr wrap="square" lIns="0" tIns="0" rIns="0" bIns="0" rtlCol="0" anchor="ctr"/>
          <a:lstStyle/>
          <a:p>
            <a:pPr indent="0" marL="0">
              <a:buNone/>
            </a:pPr>
            <a:r>
              <a:rPr lang="en-US" sz="950" dirty="0">
                <a:solidFill>
                  <a:srgbClr val="93A4B8"/>
                </a:solidFill>
                <a:latin typeface="Calibri" pitchFamily="34" charset="0"/>
                <a:ea typeface="Calibri" pitchFamily="34" charset="-122"/>
                <a:cs typeface="Calibri" pitchFamily="34" charset="-120"/>
              </a:rPr>
              <a:t>RB4011 — no parser</a:t>
            </a:r>
            <a:endParaRPr lang="en-US" sz="950" dirty="0"/>
          </a:p>
        </p:txBody>
      </p:sp>
      <p:sp>
        <p:nvSpPr>
          <p:cNvPr id="47" name="Text 45"/>
          <p:cNvSpPr txBox="1"/>
          <p:nvPr/>
        </p:nvSpPr>
        <p:spPr>
          <a:xfrm>
            <a:off x="4544568" y="5202936"/>
            <a:ext cx="1737360" cy="256032"/>
          </a:xfrm>
          <a:prstGeom prst="rect">
            <a:avLst/>
          </a:prstGeom>
          <a:noFill/>
          <a:ln/>
        </p:spPr>
        <p:txBody>
          <a:bodyPr wrap="square" lIns="0" tIns="0" rIns="0" bIns="0" rtlCol="0" anchor="ctr"/>
          <a:lstStyle/>
          <a:p>
            <a:pPr indent="0" marL="0">
              <a:buNone/>
            </a:pPr>
            <a:r>
              <a:rPr lang="en-US" sz="950" dirty="0">
                <a:solidFill>
                  <a:srgbClr val="93A4B8"/>
                </a:solidFill>
                <a:latin typeface="Consolas" pitchFamily="34" charset="0"/>
                <a:ea typeface="Consolas" pitchFamily="34" charset="-122"/>
                <a:cs typeface="Consolas" pitchFamily="34" charset="-120"/>
              </a:rPr>
              <a:t>unknown</a:t>
            </a:r>
            <a:endParaRPr lang="en-US" sz="950" dirty="0"/>
          </a:p>
        </p:txBody>
      </p:sp>
      <p:sp>
        <p:nvSpPr>
          <p:cNvPr id="48" name="Text 46"/>
          <p:cNvSpPr txBox="1"/>
          <p:nvPr/>
        </p:nvSpPr>
        <p:spPr>
          <a:xfrm>
            <a:off x="5916168" y="5202936"/>
            <a:ext cx="1737360" cy="256032"/>
          </a:xfrm>
          <a:prstGeom prst="rect">
            <a:avLst/>
          </a:prstGeom>
          <a:noFill/>
          <a:ln/>
        </p:spPr>
        <p:txBody>
          <a:bodyPr wrap="square" lIns="0" tIns="0" rIns="0" bIns="0" rtlCol="0" anchor="ctr"/>
          <a:lstStyle/>
          <a:p>
            <a:pPr indent="0" marL="0">
              <a:buNone/>
            </a:pPr>
            <a:r>
              <a:rPr lang="en-US" sz="950" dirty="0">
                <a:solidFill>
                  <a:srgbClr val="FFA23C"/>
                </a:solidFill>
                <a:latin typeface="Consolas" pitchFamily="34" charset="0"/>
                <a:ea typeface="Consolas" pitchFamily="34" charset="-122"/>
                <a:cs typeface="Consolas" pitchFamily="34" charset="-120"/>
              </a:rPr>
              <a:t>0% → taught</a:t>
            </a:r>
            <a:endParaRPr lang="en-US" sz="950" dirty="0"/>
          </a:p>
        </p:txBody>
      </p:sp>
      <p:sp>
        <p:nvSpPr>
          <p:cNvPr id="49" name="Shape 47"/>
          <p:cNvSpPr/>
          <p:nvPr/>
        </p:nvSpPr>
        <p:spPr>
          <a:xfrm>
            <a:off x="7744968" y="3401568"/>
            <a:ext cx="3877056" cy="2121408"/>
          </a:xfrm>
          <a:prstGeom prst="roundRect">
            <a:avLst>
              <a:gd name="adj" fmla="val 2586"/>
            </a:avLst>
          </a:prstGeom>
          <a:solidFill>
            <a:srgbClr val="212D3B"/>
          </a:solidFill>
          <a:ln w="12700">
            <a:solidFill>
              <a:srgbClr val="4C9AFF"/>
            </a:solidFill>
            <a:prstDash val="solid"/>
          </a:ln>
        </p:spPr>
      </p:sp>
      <p:sp>
        <p:nvSpPr>
          <p:cNvPr id="50" name="Text 48"/>
          <p:cNvSpPr txBox="1"/>
          <p:nvPr/>
        </p:nvSpPr>
        <p:spPr>
          <a:xfrm>
            <a:off x="7946136" y="3547872"/>
            <a:ext cx="3566160" cy="274320"/>
          </a:xfrm>
          <a:prstGeom prst="rect">
            <a:avLst/>
          </a:prstGeom>
          <a:noFill/>
          <a:ln/>
        </p:spPr>
        <p:txBody>
          <a:bodyPr wrap="square" lIns="0" tIns="0" rIns="0" bIns="0" rtlCol="0" anchor="ctr"/>
          <a:lstStyle/>
          <a:p>
            <a:pPr indent="0" marL="0">
              <a:buNone/>
            </a:pPr>
            <a:r>
              <a:rPr lang="en-US" sz="1150" b="1" dirty="0">
                <a:solidFill>
                  <a:srgbClr val="4C9AFF"/>
                </a:solidFill>
                <a:latin typeface="Calibri" pitchFamily="34" charset="0"/>
                <a:ea typeface="Calibri" pitchFamily="34" charset="-122"/>
                <a:cs typeface="Calibri" pitchFamily="34" charset="-120"/>
              </a:rPr>
              <a:t>Sovereignty</a:t>
            </a:r>
            <a:endParaRPr lang="en-US" sz="1150" dirty="0"/>
          </a:p>
        </p:txBody>
      </p:sp>
      <p:sp>
        <p:nvSpPr>
          <p:cNvPr id="51" name="Text 49"/>
          <p:cNvSpPr txBox="1"/>
          <p:nvPr/>
        </p:nvSpPr>
        <p:spPr>
          <a:xfrm>
            <a:off x="7946136" y="3858768"/>
            <a:ext cx="3566160" cy="1005840"/>
          </a:xfrm>
          <a:prstGeom prst="rect">
            <a:avLst/>
          </a:prstGeom>
          <a:noFill/>
          <a:ln/>
        </p:spPr>
        <p:txBody>
          <a:bodyPr wrap="square" lIns="0" tIns="0" rIns="0" bIns="0" rtlCol="0" anchor="ctr"/>
          <a:lstStyle/>
          <a:p>
            <a:pPr indent="0" marL="0">
              <a:buNone/>
            </a:pPr>
            <a:r>
              <a:rPr lang="en-US" sz="1050" dirty="0">
                <a:solidFill>
                  <a:srgbClr val="93A4B8"/>
                </a:solidFill>
                <a:latin typeface="Calibri" pitchFamily="34" charset="0"/>
                <a:ea typeface="Calibri" pitchFamily="34" charset="-122"/>
                <a:cs typeface="Calibri" pitchFamily="34" charset="-120"/>
              </a:rPr>
              <a:t>The AI layer runs on open weights behind an OpenAI-compatible endpoint. Point it at a local Ollama and the identical pipeline runs on the operator’s own hardware — no configuration data leaves the network.</a:t>
            </a:r>
            <a:endParaRPr lang="en-US" sz="1050" dirty="0"/>
          </a:p>
        </p:txBody>
      </p:sp>
      <p:sp>
        <p:nvSpPr>
          <p:cNvPr id="52" name="Text 50"/>
          <p:cNvSpPr txBox="1"/>
          <p:nvPr/>
        </p:nvSpPr>
        <p:spPr>
          <a:xfrm>
            <a:off x="7946136" y="4974336"/>
            <a:ext cx="3566160" cy="402336"/>
          </a:xfrm>
          <a:prstGeom prst="rect">
            <a:avLst/>
          </a:prstGeom>
          <a:noFill/>
          <a:ln/>
        </p:spPr>
        <p:txBody>
          <a:bodyPr wrap="square" lIns="0" tIns="0" rIns="0" bIns="0" rtlCol="0" anchor="ctr"/>
          <a:lstStyle/>
          <a:p>
            <a:pPr indent="0" marL="0">
              <a:buNone/>
            </a:pPr>
            <a:r>
              <a:rPr lang="en-US" sz="1050" b="1" i="1" dirty="0">
                <a:solidFill>
                  <a:srgbClr val="35D0A5"/>
                </a:solidFill>
                <a:latin typeface="Calibri" pitchFamily="34" charset="0"/>
                <a:ea typeface="Calibri" pitchFamily="34" charset="-122"/>
                <a:cs typeface="Calibri" pitchFamily="34" charset="-120"/>
              </a:rPr>
              <a:t>Adding a vendor is a JSON file, not a release.</a:t>
            </a:r>
            <a:endParaRPr lang="en-US" sz="1050" dirty="0"/>
          </a:p>
        </p:txBody>
      </p:sp>
      <p:sp>
        <p:nvSpPr>
          <p:cNvPr id="53" name="Text 51"/>
          <p:cNvSpPr txBox="1"/>
          <p:nvPr/>
        </p:nvSpPr>
        <p:spPr>
          <a:xfrm>
            <a:off x="566928" y="5705856"/>
            <a:ext cx="11055096" cy="365760"/>
          </a:xfrm>
          <a:prstGeom prst="rect">
            <a:avLst/>
          </a:prstGeom>
          <a:noFill/>
          <a:ln/>
        </p:spPr>
        <p:txBody>
          <a:bodyPr wrap="square" lIns="0" tIns="0" rIns="0" bIns="0" rtlCol="0" anchor="ctr"/>
          <a:lstStyle/>
          <a:p>
            <a:pPr indent="0" marL="0">
              <a:buNone/>
            </a:pPr>
            <a:r>
              <a:rPr lang="en-US" sz="1400" b="1" dirty="0">
                <a:solidFill>
                  <a:srgbClr val="E9EFF6"/>
                </a:solidFill>
                <a:latin typeface="Cambria" pitchFamily="34" charset="0"/>
                <a:ea typeface="Cambria" pitchFamily="34" charset="-122"/>
                <a:cs typeface="Cambria" pitchFamily="34" charset="-120"/>
              </a:rPr>
              <a:t>AI interprets syntax.  Rules decide compliance.  Humans approve new knowledge.</a:t>
            </a:r>
            <a:endParaRPr lang="en-US" sz="1400" dirty="0"/>
          </a:p>
        </p:txBody>
      </p:sp>
      <p:sp>
        <p:nvSpPr>
          <p:cNvPr id="55" name="Text 52"/>
          <p:cNvSpPr txBox="1"/>
          <p:nvPr/>
        </p:nvSpPr>
        <p:spPr>
          <a:xfrm>
            <a:off x="566928" y="6327648"/>
            <a:ext cx="6400800" cy="256032"/>
          </a:xfrm>
          <a:prstGeom prst="rect">
            <a:avLst/>
          </a:prstGeom>
          <a:noFill/>
          <a:ln/>
        </p:spPr>
        <p:txBody>
          <a:bodyPr wrap="square" lIns="0" tIns="0" rIns="0" bIns="0" rtlCol="0" anchor="ctr"/>
          <a:lstStyle/>
          <a:p>
            <a:pPr indent="0" marL="0">
              <a:buNone/>
            </a:pPr>
            <a:r>
              <a:rPr lang="en-US" sz="900" dirty="0">
                <a:solidFill>
                  <a:srgbClr val="64768C"/>
                </a:solidFill>
                <a:latin typeface="Calibri" pitchFamily="34" charset="0"/>
                <a:ea typeface="Calibri" pitchFamily="34" charset="-122"/>
                <a:cs typeface="Calibri" pitchFamily="34" charset="-120"/>
              </a:rPr>
              <a:t>NetBaseline AI  ·  SIH 2026  ·  PS 26155  ·  NTRO</a:t>
            </a:r>
            <a:endParaRPr lang="en-US" sz="900" dirty="0"/>
          </a:p>
        </p:txBody>
      </p:sp>
      <p:sp>
        <p:nvSpPr>
          <p:cNvPr id="56" name="Text 53"/>
          <p:cNvSpPr txBox="1"/>
          <p:nvPr/>
        </p:nvSpPr>
        <p:spPr>
          <a:xfrm>
            <a:off x="11073384" y="6327648"/>
            <a:ext cx="548640" cy="256032"/>
          </a:xfrm>
          <a:prstGeom prst="rect">
            <a:avLst/>
          </a:prstGeom>
          <a:noFill/>
          <a:ln/>
        </p:spPr>
        <p:txBody>
          <a:bodyPr wrap="square" lIns="0" tIns="0" rIns="0" bIns="0" rtlCol="0" anchor="ctr"/>
          <a:lstStyle/>
          <a:p>
            <a:pPr algn="r" indent="0" marL="0">
              <a:buNone/>
            </a:pPr>
            <a:r>
              <a:rPr lang="en-US" sz="900" dirty="0">
                <a:solidFill>
                  <a:srgbClr val="64768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NetBaseline AI — SIH 2026 PS 26155</dc:title>
  <dc:subject>PptxGenJS Presentation</dc:subject>
  <dc:creator>Team NetBaseline</dc:creator>
  <cp:lastModifiedBy>Team NetBaseline</cp:lastModifiedBy>
  <cp:revision>1</cp:revision>
  <dcterms:created xsi:type="dcterms:W3CDTF">2026-09-11T20:42:50Z</dcterms:created>
  <dcterms:modified xsi:type="dcterms:W3CDTF">2026-09-11T20:42:50Z</dcterms:modified>
</cp:coreProperties>
</file>